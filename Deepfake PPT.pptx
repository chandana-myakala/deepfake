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04" r:id="rId2"/>
    <p:sldId id="318" r:id="rId3"/>
    <p:sldId id="325" r:id="rId4"/>
    <p:sldId id="327" r:id="rId5"/>
    <p:sldId id="331" r:id="rId6"/>
    <p:sldId id="330" r:id="rId7"/>
    <p:sldId id="332" r:id="rId8"/>
    <p:sldId id="337" r:id="rId9"/>
    <p:sldId id="334" r:id="rId10"/>
    <p:sldId id="329" r:id="rId11"/>
    <p:sldId id="336" r:id="rId12"/>
    <p:sldId id="335"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94E91"/>
    <a:srgbClr val="D1DAFF"/>
    <a:srgbClr val="FFFFFF"/>
    <a:srgbClr val="164F8F"/>
    <a:srgbClr val="184F90"/>
    <a:srgbClr val="105498"/>
    <a:srgbClr val="185090"/>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3D9D15-A02E-4115-94CA-EB8F54D27A76}" v="6" dt="2025-11-18T14:55:27.0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954" autoAdjust="0"/>
  </p:normalViewPr>
  <p:slideViewPr>
    <p:cSldViewPr snapToGrid="0">
      <p:cViewPr varScale="1">
        <p:scale>
          <a:sx n="82" d="100"/>
          <a:sy n="82" d="100"/>
        </p:scale>
        <p:origin x="72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yakala Chandana" userId="276ac4f31c371e1e" providerId="LiveId" clId="{25AAF395-E74D-4CE5-A59B-71205B17E009}"/>
    <pc:docChg chg="custSel modSld modShowInfo">
      <pc:chgData name="Myakala Chandana" userId="276ac4f31c371e1e" providerId="LiveId" clId="{25AAF395-E74D-4CE5-A59B-71205B17E009}" dt="2025-11-18T15:08:35.668" v="16" actId="21"/>
      <pc:docMkLst>
        <pc:docMk/>
      </pc:docMkLst>
      <pc:sldChg chg="addSp delSp modSp mod modTransition delAnim modAnim">
        <pc:chgData name="Myakala Chandana" userId="276ac4f31c371e1e" providerId="LiveId" clId="{25AAF395-E74D-4CE5-A59B-71205B17E009}" dt="2025-11-18T15:08:35.668" v="16" actId="21"/>
        <pc:sldMkLst>
          <pc:docMk/>
          <pc:sldMk cId="1986909287" sldId="304"/>
        </pc:sldMkLst>
        <pc:picChg chg="add del mod">
          <ac:chgData name="Myakala Chandana" userId="276ac4f31c371e1e" providerId="LiveId" clId="{25AAF395-E74D-4CE5-A59B-71205B17E009}" dt="2025-11-18T13:59:56.407" v="2" actId="21"/>
          <ac:picMkLst>
            <pc:docMk/>
            <pc:sldMk cId="1986909287" sldId="304"/>
            <ac:picMk id="2" creationId="{9EB1F386-BE1C-0571-47D3-06F2894AEABA}"/>
          </ac:picMkLst>
        </pc:picChg>
        <pc:picChg chg="add del mod modCrop">
          <ac:chgData name="Myakala Chandana" userId="276ac4f31c371e1e" providerId="LiveId" clId="{25AAF395-E74D-4CE5-A59B-71205B17E009}" dt="2025-11-18T14:07:16.472" v="8" actId="21"/>
          <ac:picMkLst>
            <pc:docMk/>
            <pc:sldMk cId="1986909287" sldId="304"/>
            <ac:picMk id="5" creationId="{027017EF-F2B5-E347-54EA-CCC980897683}"/>
          </ac:picMkLst>
        </pc:picChg>
        <pc:picChg chg="add del mod">
          <ac:chgData name="Myakala Chandana" userId="276ac4f31c371e1e" providerId="LiveId" clId="{25AAF395-E74D-4CE5-A59B-71205B17E009}" dt="2025-11-18T14:11:25.111" v="10" actId="21"/>
          <ac:picMkLst>
            <pc:docMk/>
            <pc:sldMk cId="1986909287" sldId="304"/>
            <ac:picMk id="7" creationId="{4374843E-BAF5-C665-E621-655EC055E67C}"/>
          </ac:picMkLst>
        </pc:picChg>
        <pc:picChg chg="add del mod">
          <ac:chgData name="Myakala Chandana" userId="276ac4f31c371e1e" providerId="LiveId" clId="{25AAF395-E74D-4CE5-A59B-71205B17E009}" dt="2025-11-18T14:37:07.958" v="12" actId="21"/>
          <ac:picMkLst>
            <pc:docMk/>
            <pc:sldMk cId="1986909287" sldId="304"/>
            <ac:picMk id="9" creationId="{66D75C87-920B-4EEA-5EF8-87F693066FFF}"/>
          </ac:picMkLst>
        </pc:picChg>
        <pc:picChg chg="add del mod">
          <ac:chgData name="Myakala Chandana" userId="276ac4f31c371e1e" providerId="LiveId" clId="{25AAF395-E74D-4CE5-A59B-71205B17E009}" dt="2025-11-18T14:42:40.082" v="14" actId="21"/>
          <ac:picMkLst>
            <pc:docMk/>
            <pc:sldMk cId="1986909287" sldId="304"/>
            <ac:picMk id="10" creationId="{ED77536F-C053-0CC7-8AD1-D074ED1BC4C9}"/>
          </ac:picMkLst>
        </pc:picChg>
        <pc:picChg chg="add del mod">
          <ac:chgData name="Myakala Chandana" userId="276ac4f31c371e1e" providerId="LiveId" clId="{25AAF395-E74D-4CE5-A59B-71205B17E009}" dt="2025-11-18T15:08:35.668" v="16" actId="21"/>
          <ac:picMkLst>
            <pc:docMk/>
            <pc:sldMk cId="1986909287" sldId="304"/>
            <ac:picMk id="12" creationId="{63D0050A-DEC3-914E-A95E-870810041C4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8BA0C7-BE67-48D5-BD35-DA5DB3D3A476}" type="datetimeFigureOut">
              <a:rPr lang="en-US" smtClean="0"/>
              <a:t>11/18/2025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467D57-D457-4EAE-BF4F-2FDE0C552E3A}" type="slidenum">
              <a:rPr lang="en-US" smtClean="0"/>
              <a:t>‹#›</a:t>
            </a:fld>
            <a:endParaRPr lang="en-US"/>
          </a:p>
        </p:txBody>
      </p:sp>
    </p:spTree>
    <p:extLst>
      <p:ext uri="{BB962C8B-B14F-4D97-AF65-F5344CB8AC3E}">
        <p14:creationId xmlns:p14="http://schemas.microsoft.com/office/powerpoint/2010/main" val="15296174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1" name="Google Shape;331;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9120070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5E15A-8ED6-8531-ACA3-5CE122589C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507DFD0-D83B-EBC4-CEFB-E8BCBC2900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FB329BF-34AB-6B7C-2221-C7471337782A}"/>
              </a:ext>
            </a:extLst>
          </p:cNvPr>
          <p:cNvSpPr>
            <a:spLocks noGrp="1"/>
          </p:cNvSpPr>
          <p:nvPr>
            <p:ph type="dt" sz="half" idx="10"/>
          </p:nvPr>
        </p:nvSpPr>
        <p:spPr/>
        <p:txBody>
          <a:bodyPr/>
          <a:lstStyle/>
          <a:p>
            <a:fld id="{B03B59AF-3FE2-47EF-883F-078EDA81DE8A}" type="datetime4">
              <a:rPr lang="en-US" smtClean="0"/>
              <a:t>November 18, 2025</a:t>
            </a:fld>
            <a:endParaRPr lang="en-US"/>
          </a:p>
        </p:txBody>
      </p:sp>
      <p:sp>
        <p:nvSpPr>
          <p:cNvPr id="5" name="Footer Placeholder 4">
            <a:extLst>
              <a:ext uri="{FF2B5EF4-FFF2-40B4-BE49-F238E27FC236}">
                <a16:creationId xmlns:a16="http://schemas.microsoft.com/office/drawing/2014/main" id="{A755F78E-7794-F036-28F3-88211ACDB6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A43C1D-8CA2-9094-5D87-C15A99732603}"/>
              </a:ext>
            </a:extLst>
          </p:cNvPr>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441688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29628-5864-D26E-C525-65E3E5BA0A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047314-70E0-2292-24E3-AB5D75A3E2E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1846E-FBFF-1E2E-99A4-BE0E4E060CB2}"/>
              </a:ext>
            </a:extLst>
          </p:cNvPr>
          <p:cNvSpPr>
            <a:spLocks noGrp="1"/>
          </p:cNvSpPr>
          <p:nvPr>
            <p:ph type="dt" sz="half" idx="10"/>
          </p:nvPr>
        </p:nvSpPr>
        <p:spPr/>
        <p:txBody>
          <a:bodyPr/>
          <a:lstStyle/>
          <a:p>
            <a:fld id="{7788CBC2-2080-4E11-9792-C862CA9F3F22}" type="datetime4">
              <a:rPr lang="en-US" smtClean="0"/>
              <a:t>November 18, 2025</a:t>
            </a:fld>
            <a:endParaRPr lang="en-US"/>
          </a:p>
        </p:txBody>
      </p:sp>
      <p:sp>
        <p:nvSpPr>
          <p:cNvPr id="5" name="Footer Placeholder 4">
            <a:extLst>
              <a:ext uri="{FF2B5EF4-FFF2-40B4-BE49-F238E27FC236}">
                <a16:creationId xmlns:a16="http://schemas.microsoft.com/office/drawing/2014/main" id="{2194DED9-C0B4-116E-2505-1DBDB66A1F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532EF-85F9-6967-DAF1-FD8F565314F3}"/>
              </a:ext>
            </a:extLst>
          </p:cNvPr>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838225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54261-5AB7-0C17-0691-FAC0807640F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2B323B7-BFB6-CB47-54A2-D9047A013D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F65AF4-438B-B3E9-E401-90F0D5C068FB}"/>
              </a:ext>
            </a:extLst>
          </p:cNvPr>
          <p:cNvSpPr>
            <a:spLocks noGrp="1"/>
          </p:cNvSpPr>
          <p:nvPr>
            <p:ph type="dt" sz="half" idx="10"/>
          </p:nvPr>
        </p:nvSpPr>
        <p:spPr/>
        <p:txBody>
          <a:bodyPr/>
          <a:lstStyle/>
          <a:p>
            <a:fld id="{63A1177B-83AB-4111-AD55-839C2F0EA800}" type="datetime4">
              <a:rPr lang="en-US" smtClean="0"/>
              <a:t>November 18, 2025</a:t>
            </a:fld>
            <a:endParaRPr lang="en-US"/>
          </a:p>
        </p:txBody>
      </p:sp>
      <p:sp>
        <p:nvSpPr>
          <p:cNvPr id="5" name="Footer Placeholder 4">
            <a:extLst>
              <a:ext uri="{FF2B5EF4-FFF2-40B4-BE49-F238E27FC236}">
                <a16:creationId xmlns:a16="http://schemas.microsoft.com/office/drawing/2014/main" id="{74F9C8DE-9A32-A5C0-0E13-05A74F3820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D8E43D-0D9C-7B2E-C87D-4680F225F552}"/>
              </a:ext>
            </a:extLst>
          </p:cNvPr>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335349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062B64-C63E-44E9-2506-8D19BCE1D1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152EBF-C5BF-83EF-F061-70599F4F7F7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BF7818-064D-B14D-C27C-DBFF56D9C4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4598F46-BD53-3CDC-1C65-41CC5EC54929}"/>
              </a:ext>
            </a:extLst>
          </p:cNvPr>
          <p:cNvSpPr>
            <a:spLocks noGrp="1"/>
          </p:cNvSpPr>
          <p:nvPr>
            <p:ph type="dt" sz="half" idx="10"/>
          </p:nvPr>
        </p:nvSpPr>
        <p:spPr/>
        <p:txBody>
          <a:bodyPr/>
          <a:lstStyle/>
          <a:p>
            <a:fld id="{79BCC0CD-E3B9-47AD-83AA-AA9538428721}" type="datetime4">
              <a:rPr lang="en-US" smtClean="0"/>
              <a:t>November 18, 2025</a:t>
            </a:fld>
            <a:endParaRPr lang="en-US"/>
          </a:p>
        </p:txBody>
      </p:sp>
      <p:sp>
        <p:nvSpPr>
          <p:cNvPr id="6" name="Footer Placeholder 5">
            <a:extLst>
              <a:ext uri="{FF2B5EF4-FFF2-40B4-BE49-F238E27FC236}">
                <a16:creationId xmlns:a16="http://schemas.microsoft.com/office/drawing/2014/main" id="{20A5A4F0-E8D7-9512-2938-CC32A1098A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68909C-21EB-59DF-39FF-210F6306EE31}"/>
              </a:ext>
            </a:extLst>
          </p:cNvPr>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42646639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E6C29-DA86-6F21-8709-CCB3B9486C9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F9C9AC-3485-C255-51FE-BF2807C856B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454E693-EB5D-0123-AE87-7BEAA5F8DD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A32530E-CA4A-F62C-C8E7-7A271E23F9C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452A2CC-C818-7B55-C1D7-E81B96CA010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0ADFDB-C373-CB11-8A66-84DE595DA065}"/>
              </a:ext>
            </a:extLst>
          </p:cNvPr>
          <p:cNvSpPr>
            <a:spLocks noGrp="1"/>
          </p:cNvSpPr>
          <p:nvPr>
            <p:ph type="dt" sz="half" idx="10"/>
          </p:nvPr>
        </p:nvSpPr>
        <p:spPr/>
        <p:txBody>
          <a:bodyPr/>
          <a:lstStyle/>
          <a:p>
            <a:fld id="{BDCB690A-8931-4F5D-AC95-D8F764CB35CD}" type="datetime4">
              <a:rPr lang="en-US" smtClean="0"/>
              <a:t>November 18, 2025</a:t>
            </a:fld>
            <a:endParaRPr lang="en-US"/>
          </a:p>
        </p:txBody>
      </p:sp>
      <p:sp>
        <p:nvSpPr>
          <p:cNvPr id="8" name="Footer Placeholder 7">
            <a:extLst>
              <a:ext uri="{FF2B5EF4-FFF2-40B4-BE49-F238E27FC236}">
                <a16:creationId xmlns:a16="http://schemas.microsoft.com/office/drawing/2014/main" id="{DBF2E257-BED6-EEE0-2F86-D12E9B4C6A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846BED7-9CDB-5725-CB58-D080D33C34B5}"/>
              </a:ext>
            </a:extLst>
          </p:cNvPr>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3201726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4BB1D-580F-5132-C23E-B9CD688EEB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76580E1-1188-F78F-DBDB-BD60F976B2CD}"/>
              </a:ext>
            </a:extLst>
          </p:cNvPr>
          <p:cNvSpPr>
            <a:spLocks noGrp="1"/>
          </p:cNvSpPr>
          <p:nvPr>
            <p:ph type="dt" sz="half" idx="10"/>
          </p:nvPr>
        </p:nvSpPr>
        <p:spPr/>
        <p:txBody>
          <a:bodyPr/>
          <a:lstStyle/>
          <a:p>
            <a:fld id="{7EA207DD-FA59-445B-BDC2-43FC144F82C7}" type="datetime4">
              <a:rPr lang="en-US" smtClean="0"/>
              <a:t>November 18, 2025</a:t>
            </a:fld>
            <a:endParaRPr lang="en-US"/>
          </a:p>
        </p:txBody>
      </p:sp>
      <p:sp>
        <p:nvSpPr>
          <p:cNvPr id="4" name="Footer Placeholder 3">
            <a:extLst>
              <a:ext uri="{FF2B5EF4-FFF2-40B4-BE49-F238E27FC236}">
                <a16:creationId xmlns:a16="http://schemas.microsoft.com/office/drawing/2014/main" id="{A13376EA-12EF-2180-D39D-32B344DD83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90EC9DB-DCC3-B1AB-587D-7D5D1DFE032B}"/>
              </a:ext>
            </a:extLst>
          </p:cNvPr>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483074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957248-1ACE-B0B5-9242-19E7C1473CC7}"/>
              </a:ext>
            </a:extLst>
          </p:cNvPr>
          <p:cNvSpPr>
            <a:spLocks noGrp="1"/>
          </p:cNvSpPr>
          <p:nvPr>
            <p:ph type="dt" sz="half" idx="10"/>
          </p:nvPr>
        </p:nvSpPr>
        <p:spPr/>
        <p:txBody>
          <a:bodyPr/>
          <a:lstStyle/>
          <a:p>
            <a:fld id="{0CD93087-AA1B-4DF0-85F2-982387B50E06}" type="datetime4">
              <a:rPr lang="en-US" smtClean="0"/>
              <a:t>November 18, 2025</a:t>
            </a:fld>
            <a:endParaRPr lang="en-US"/>
          </a:p>
        </p:txBody>
      </p:sp>
      <p:sp>
        <p:nvSpPr>
          <p:cNvPr id="3" name="Footer Placeholder 2">
            <a:extLst>
              <a:ext uri="{FF2B5EF4-FFF2-40B4-BE49-F238E27FC236}">
                <a16:creationId xmlns:a16="http://schemas.microsoft.com/office/drawing/2014/main" id="{D2B83C30-0C93-9307-2564-157C44936C2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AAE16DA-E589-FA88-4D7C-103B1A6AB8AD}"/>
              </a:ext>
            </a:extLst>
          </p:cNvPr>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42433638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C4F56-B781-88DE-B5CF-8666E1686F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048CB4-7C73-57F6-4C1F-6C475FF925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9CCB3E8-9234-B7F9-0909-B0DDAA5204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A25712-9136-2D26-AB91-5E8C187F0CAD}"/>
              </a:ext>
            </a:extLst>
          </p:cNvPr>
          <p:cNvSpPr>
            <a:spLocks noGrp="1"/>
          </p:cNvSpPr>
          <p:nvPr>
            <p:ph type="dt" sz="half" idx="10"/>
          </p:nvPr>
        </p:nvSpPr>
        <p:spPr/>
        <p:txBody>
          <a:bodyPr/>
          <a:lstStyle/>
          <a:p>
            <a:fld id="{DE9A609E-6B0F-4F29-A186-057387632C94}" type="datetime4">
              <a:rPr lang="en-US" smtClean="0"/>
              <a:t>November 18, 2025</a:t>
            </a:fld>
            <a:endParaRPr lang="en-US"/>
          </a:p>
        </p:txBody>
      </p:sp>
      <p:sp>
        <p:nvSpPr>
          <p:cNvPr id="6" name="Footer Placeholder 5">
            <a:extLst>
              <a:ext uri="{FF2B5EF4-FFF2-40B4-BE49-F238E27FC236}">
                <a16:creationId xmlns:a16="http://schemas.microsoft.com/office/drawing/2014/main" id="{03C51FC2-9B9E-5567-DCBC-97BA5F12D2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3D5149-27C1-FBF9-584D-0CDCAADDEA01}"/>
              </a:ext>
            </a:extLst>
          </p:cNvPr>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24664531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0ECB5-0124-E4AB-796D-4DD2001A1E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A109C8-FE9F-0C66-9C71-8C3DDAE55F0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2CBBC3-C85A-2A3F-441B-71C12E1B72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4CC9F9-8D8B-FF83-A7D0-ECAE1A08610D}"/>
              </a:ext>
            </a:extLst>
          </p:cNvPr>
          <p:cNvSpPr>
            <a:spLocks noGrp="1"/>
          </p:cNvSpPr>
          <p:nvPr>
            <p:ph type="dt" sz="half" idx="10"/>
          </p:nvPr>
        </p:nvSpPr>
        <p:spPr/>
        <p:txBody>
          <a:bodyPr/>
          <a:lstStyle/>
          <a:p>
            <a:fld id="{3D714C70-76AE-4031-BAD6-CD7FA9662B80}" type="datetime4">
              <a:rPr lang="en-US" smtClean="0"/>
              <a:t>November 18, 2025</a:t>
            </a:fld>
            <a:endParaRPr lang="en-US"/>
          </a:p>
        </p:txBody>
      </p:sp>
      <p:sp>
        <p:nvSpPr>
          <p:cNvPr id="6" name="Footer Placeholder 5">
            <a:extLst>
              <a:ext uri="{FF2B5EF4-FFF2-40B4-BE49-F238E27FC236}">
                <a16:creationId xmlns:a16="http://schemas.microsoft.com/office/drawing/2014/main" id="{61717425-9B0E-9676-ADA4-8456000AB6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0C69FA-8AB7-BCF6-F761-4FAE38610825}"/>
              </a:ext>
            </a:extLst>
          </p:cNvPr>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115205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838D7-ED46-1642-DC1A-3A465BB208F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E4E15FD-A10E-BAF8-E05C-538407F872F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4DE2C9-0FB1-E71A-FB85-9648E0180D57}"/>
              </a:ext>
            </a:extLst>
          </p:cNvPr>
          <p:cNvSpPr>
            <a:spLocks noGrp="1"/>
          </p:cNvSpPr>
          <p:nvPr>
            <p:ph type="dt" sz="half" idx="10"/>
          </p:nvPr>
        </p:nvSpPr>
        <p:spPr/>
        <p:txBody>
          <a:bodyPr/>
          <a:lstStyle/>
          <a:p>
            <a:fld id="{3C9CCFBB-3B06-4969-9E70-B072D1C45158}" type="datetime4">
              <a:rPr lang="en-US" smtClean="0"/>
              <a:t>November 18, 2025</a:t>
            </a:fld>
            <a:endParaRPr lang="en-US"/>
          </a:p>
        </p:txBody>
      </p:sp>
      <p:sp>
        <p:nvSpPr>
          <p:cNvPr id="5" name="Footer Placeholder 4">
            <a:extLst>
              <a:ext uri="{FF2B5EF4-FFF2-40B4-BE49-F238E27FC236}">
                <a16:creationId xmlns:a16="http://schemas.microsoft.com/office/drawing/2014/main" id="{372025A5-BF35-212A-9794-5B9117B89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22621E-0398-079F-48B0-4E9BF4D85971}"/>
              </a:ext>
            </a:extLst>
          </p:cNvPr>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3982805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785918-5C87-9CA6-5F8A-9772EFAB8B9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ED2CDE8-2A9D-A636-8E8E-D9BC332C92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6A6C24-D833-818E-EA16-DF647970307D}"/>
              </a:ext>
            </a:extLst>
          </p:cNvPr>
          <p:cNvSpPr>
            <a:spLocks noGrp="1"/>
          </p:cNvSpPr>
          <p:nvPr>
            <p:ph type="dt" sz="half" idx="10"/>
          </p:nvPr>
        </p:nvSpPr>
        <p:spPr/>
        <p:txBody>
          <a:bodyPr/>
          <a:lstStyle/>
          <a:p>
            <a:fld id="{1829C015-2205-4C51-82B5-6CD3859E965C}" type="datetime4">
              <a:rPr lang="en-US" smtClean="0"/>
              <a:t>November 18, 2025</a:t>
            </a:fld>
            <a:endParaRPr lang="en-US"/>
          </a:p>
        </p:txBody>
      </p:sp>
      <p:sp>
        <p:nvSpPr>
          <p:cNvPr id="5" name="Footer Placeholder 4">
            <a:extLst>
              <a:ext uri="{FF2B5EF4-FFF2-40B4-BE49-F238E27FC236}">
                <a16:creationId xmlns:a16="http://schemas.microsoft.com/office/drawing/2014/main" id="{0D9DE245-B4A4-F43F-404C-840EF95B11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B5E3AB-A1E1-E9C0-F70E-E74A4DF44EB7}"/>
              </a:ext>
            </a:extLst>
          </p:cNvPr>
          <p:cNvSpPr>
            <a:spLocks noGrp="1"/>
          </p:cNvSpPr>
          <p:nvPr>
            <p:ph type="sldNum" sz="quarter" idx="12"/>
          </p:nvPr>
        </p:nvSpPr>
        <p:spPr/>
        <p:txBody>
          <a:bodyPr/>
          <a:lstStyle/>
          <a:p>
            <a:fld id="{6EFE7C99-B088-4EBB-BFF6-BECCC96D5DD8}" type="slidenum">
              <a:rPr lang="en-US" smtClean="0"/>
              <a:t>‹#›</a:t>
            </a:fld>
            <a:endParaRPr lang="en-US"/>
          </a:p>
        </p:txBody>
      </p:sp>
    </p:spTree>
    <p:extLst>
      <p:ext uri="{BB962C8B-B14F-4D97-AF65-F5344CB8AC3E}">
        <p14:creationId xmlns:p14="http://schemas.microsoft.com/office/powerpoint/2010/main" val="1403670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DC4ECF-2932-CCE3-D471-28AEE158A1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BC3F014-55A0-15E8-570C-9924061EAFF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8FC8E4-76AA-BD7E-E8F5-883744F5AD9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1A2E3F-4A4C-4408-90F4-ADD578F7FCFA}" type="datetime4">
              <a:rPr lang="en-US" smtClean="0"/>
              <a:t>November 18, 2025</a:t>
            </a:fld>
            <a:endParaRPr lang="en-US"/>
          </a:p>
        </p:txBody>
      </p:sp>
      <p:sp>
        <p:nvSpPr>
          <p:cNvPr id="5" name="Footer Placeholder 4">
            <a:extLst>
              <a:ext uri="{FF2B5EF4-FFF2-40B4-BE49-F238E27FC236}">
                <a16:creationId xmlns:a16="http://schemas.microsoft.com/office/drawing/2014/main" id="{87FCE52D-3D9F-AC04-8299-E6328C65FE4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E9F1DD0-ABF1-D159-6BFD-2D7BD52843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FE7C99-B088-4EBB-BFF6-BECCC96D5DD8}" type="slidenum">
              <a:rPr lang="en-US" smtClean="0"/>
              <a:t>‹#›</a:t>
            </a:fld>
            <a:endParaRPr lang="en-US"/>
          </a:p>
        </p:txBody>
      </p:sp>
    </p:spTree>
    <p:extLst>
      <p:ext uri="{BB962C8B-B14F-4D97-AF65-F5344CB8AC3E}">
        <p14:creationId xmlns:p14="http://schemas.microsoft.com/office/powerpoint/2010/main" val="23619099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6BC1E-9818-EFA7-2E6B-8C5BBE082754}"/>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B06C64E3-3F1E-3A71-D0FD-EE91ADB3AF11}"/>
              </a:ext>
            </a:extLst>
          </p:cNvPr>
          <p:cNvPicPr>
            <a:picLocks noChangeAspect="1"/>
          </p:cNvPicPr>
          <p:nvPr/>
        </p:nvPicPr>
        <p:blipFill>
          <a:blip r:embed="rId2"/>
          <a:stretch>
            <a:fillRect/>
          </a:stretch>
        </p:blipFill>
        <p:spPr>
          <a:xfrm>
            <a:off x="317643" y="144259"/>
            <a:ext cx="1719435" cy="677445"/>
          </a:xfrm>
          <a:prstGeom prst="rect">
            <a:avLst/>
          </a:prstGeom>
        </p:spPr>
      </p:pic>
      <p:sp>
        <p:nvSpPr>
          <p:cNvPr id="4" name="Title 3">
            <a:extLst>
              <a:ext uri="{FF2B5EF4-FFF2-40B4-BE49-F238E27FC236}">
                <a16:creationId xmlns:a16="http://schemas.microsoft.com/office/drawing/2014/main" id="{5A80012A-0822-C39F-F40F-FFE8CA01C99C}"/>
              </a:ext>
            </a:extLst>
          </p:cNvPr>
          <p:cNvSpPr>
            <a:spLocks noGrp="1"/>
          </p:cNvSpPr>
          <p:nvPr>
            <p:ph type="title"/>
          </p:nvPr>
        </p:nvSpPr>
        <p:spPr>
          <a:xfrm>
            <a:off x="1343660" y="1523381"/>
            <a:ext cx="9504680" cy="126048"/>
          </a:xfrm>
        </p:spPr>
        <p:txBody>
          <a:bodyPr>
            <a:normAutofit fontScale="90000"/>
          </a:bodyPr>
          <a:lstStyle/>
          <a:p>
            <a:r>
              <a:rPr lang="en-US" dirty="0">
                <a:latin typeface="Times New Roman" panose="02020603050405020304" pitchFamily="18" charset="0"/>
                <a:cs typeface="Times New Roman" panose="02020603050405020304" pitchFamily="18" charset="0"/>
              </a:rPr>
              <a:t>	</a:t>
            </a:r>
            <a:endParaRPr lang="en-IN" sz="4000" dirty="0">
              <a:latin typeface="Times New Roman" panose="02020603050405020304" pitchFamily="18" charset="0"/>
              <a:cs typeface="Times New Roman" panose="02020603050405020304" pitchFamily="18" charset="0"/>
            </a:endParaRPr>
          </a:p>
        </p:txBody>
      </p:sp>
      <p:sp>
        <p:nvSpPr>
          <p:cNvPr id="15" name="Slide Number Placeholder 14">
            <a:extLst>
              <a:ext uri="{FF2B5EF4-FFF2-40B4-BE49-F238E27FC236}">
                <a16:creationId xmlns:a16="http://schemas.microsoft.com/office/drawing/2014/main" id="{FEF0EF78-07F6-FA8F-C94D-D53CA74C1C48}"/>
              </a:ext>
            </a:extLst>
          </p:cNvPr>
          <p:cNvSpPr>
            <a:spLocks noGrp="1"/>
          </p:cNvSpPr>
          <p:nvPr>
            <p:ph type="sldNum" sz="quarter" idx="12"/>
          </p:nvPr>
        </p:nvSpPr>
        <p:spPr/>
        <p:txBody>
          <a:bodyPr/>
          <a:lstStyle/>
          <a:p>
            <a:fld id="{6EFE7C99-B088-4EBB-BFF6-BECCC96D5DD8}" type="slidenum">
              <a:rPr lang="en-US" smtClean="0"/>
              <a:t>1</a:t>
            </a:fld>
            <a:endParaRPr lang="en-US"/>
          </a:p>
        </p:txBody>
      </p:sp>
      <p:sp>
        <p:nvSpPr>
          <p:cNvPr id="6" name="TextBox 5">
            <a:extLst>
              <a:ext uri="{FF2B5EF4-FFF2-40B4-BE49-F238E27FC236}">
                <a16:creationId xmlns:a16="http://schemas.microsoft.com/office/drawing/2014/main" id="{8FB89617-D531-91F2-587C-8F6ABCD263CC}"/>
              </a:ext>
            </a:extLst>
          </p:cNvPr>
          <p:cNvSpPr txBox="1"/>
          <p:nvPr/>
        </p:nvSpPr>
        <p:spPr>
          <a:xfrm>
            <a:off x="1894114" y="1126057"/>
            <a:ext cx="7856376" cy="954107"/>
          </a:xfrm>
          <a:prstGeom prst="rect">
            <a:avLst/>
          </a:prstGeom>
          <a:noFill/>
        </p:spPr>
        <p:txBody>
          <a:bodyPr wrap="square">
            <a:spAutoFit/>
          </a:bodyPr>
          <a:lstStyle/>
          <a:p>
            <a:pPr algn="ctr"/>
            <a:r>
              <a:rPr lang="en-US" sz="2800" dirty="0">
                <a:latin typeface="Times New Roman"/>
                <a:ea typeface="+mj-lt"/>
                <a:cs typeface="+mj-lt"/>
              </a:rPr>
              <a:t> </a:t>
            </a:r>
            <a:r>
              <a:rPr lang="en-US" sz="2800" b="1" dirty="0">
                <a:latin typeface="Times New Roman" panose="02020603050405020304" pitchFamily="18" charset="0"/>
                <a:cs typeface="Times New Roman" panose="02020603050405020304" pitchFamily="18" charset="0"/>
              </a:rPr>
              <a:t>DEEPFAKE DETECTION USING DEEP LEARNING</a:t>
            </a:r>
            <a:endParaRPr lang="en-US" sz="2800" b="1" dirty="0">
              <a:latin typeface="Times New Roman" panose="02020603050405020304" pitchFamily="18" charset="0"/>
              <a:ea typeface="+mn-lt"/>
              <a:cs typeface="Times New Roman" panose="02020603050405020304" pitchFamily="18" charset="0"/>
            </a:endParaRPr>
          </a:p>
        </p:txBody>
      </p:sp>
      <p:graphicFrame>
        <p:nvGraphicFramePr>
          <p:cNvPr id="8" name="Table 7">
            <a:extLst>
              <a:ext uri="{FF2B5EF4-FFF2-40B4-BE49-F238E27FC236}">
                <a16:creationId xmlns:a16="http://schemas.microsoft.com/office/drawing/2014/main" id="{319D2BA4-F0CE-29A1-D66D-27875956C61D}"/>
              </a:ext>
            </a:extLst>
          </p:cNvPr>
          <p:cNvGraphicFramePr>
            <a:graphicFrameLocks noGrp="1"/>
          </p:cNvGraphicFramePr>
          <p:nvPr>
            <p:extLst>
              <p:ext uri="{D42A27DB-BD31-4B8C-83A1-F6EECF244321}">
                <p14:modId xmlns:p14="http://schemas.microsoft.com/office/powerpoint/2010/main" val="4183852939"/>
              </p:ext>
            </p:extLst>
          </p:nvPr>
        </p:nvGraphicFramePr>
        <p:xfrm>
          <a:off x="2111722" y="2780219"/>
          <a:ext cx="8581159" cy="2194560"/>
        </p:xfrm>
        <a:graphic>
          <a:graphicData uri="http://schemas.openxmlformats.org/drawingml/2006/table">
            <a:tbl>
              <a:tblPr firstRow="1" bandRow="1">
                <a:tableStyleId>{2D5ABB26-0587-4C30-8999-92F81FD0307C}</a:tableStyleId>
              </a:tblPr>
              <a:tblGrid>
                <a:gridCol w="4384398">
                  <a:extLst>
                    <a:ext uri="{9D8B030D-6E8A-4147-A177-3AD203B41FA5}">
                      <a16:colId xmlns:a16="http://schemas.microsoft.com/office/drawing/2014/main" val="1976191973"/>
                    </a:ext>
                  </a:extLst>
                </a:gridCol>
                <a:gridCol w="4196761">
                  <a:extLst>
                    <a:ext uri="{9D8B030D-6E8A-4147-A177-3AD203B41FA5}">
                      <a16:colId xmlns:a16="http://schemas.microsoft.com/office/drawing/2014/main" val="3364653958"/>
                    </a:ext>
                  </a:extLst>
                </a:gridCol>
              </a:tblGrid>
              <a:tr h="302579">
                <a:tc gridSpan="2">
                  <a:txBody>
                    <a:bodyPr/>
                    <a:lstStyle/>
                    <a:p>
                      <a:r>
                        <a:rPr lang="en-US" dirty="0">
                          <a:solidFill>
                            <a:schemeClr val="tx1"/>
                          </a:solidFill>
                          <a:latin typeface="Times New Roman"/>
                        </a:rPr>
                        <a:t>                                            </a:t>
                      </a:r>
                      <a:r>
                        <a:rPr lang="en-US" b="1" dirty="0">
                          <a:solidFill>
                            <a:schemeClr val="tx1"/>
                          </a:solidFill>
                          <a:latin typeface="Times New Roman"/>
                        </a:rPr>
                        <a:t>TEAM MEMBERS:</a:t>
                      </a:r>
                    </a:p>
                  </a:txBody>
                  <a:tcPr/>
                </a:tc>
                <a:tc hMerge="1">
                  <a:txBody>
                    <a:bodyPr/>
                    <a:lstStyle/>
                    <a:p>
                      <a:endParaRPr lang="en-US"/>
                    </a:p>
                  </a:txBody>
                  <a:tcPr/>
                </a:tc>
                <a:extLst>
                  <a:ext uri="{0D108BD9-81ED-4DB2-BD59-A6C34878D82A}">
                    <a16:rowId xmlns:a16="http://schemas.microsoft.com/office/drawing/2014/main" val="1157443518"/>
                  </a:ext>
                </a:extLst>
              </a:tr>
              <a:tr h="326785">
                <a:tc>
                  <a:txBody>
                    <a:bodyPr/>
                    <a:lstStyle/>
                    <a:p>
                      <a:pPr lvl="0">
                        <a:buNone/>
                      </a:pPr>
                      <a:r>
                        <a:rPr lang="en-US" sz="1800" b="0" kern="1200" dirty="0">
                          <a:solidFill>
                            <a:schemeClr val="tx1"/>
                          </a:solidFill>
                          <a:effectLst/>
                          <a:latin typeface="+mn-lt"/>
                          <a:ea typeface="+mn-ea"/>
                          <a:cs typeface="+mn-cs"/>
                        </a:rPr>
                        <a:t>NADIGOTTU DIVYA SREE</a:t>
                      </a:r>
                      <a:endParaRPr lang="en-US" sz="1800" b="0" dirty="0">
                        <a:solidFill>
                          <a:schemeClr val="tx1"/>
                        </a:solidFill>
                        <a:latin typeface="Times New Roman"/>
                      </a:endParaRPr>
                    </a:p>
                  </a:txBody>
                  <a:tcPr/>
                </a:tc>
                <a:tc>
                  <a:txBody>
                    <a:bodyPr/>
                    <a:lstStyle/>
                    <a:p>
                      <a:r>
                        <a:rPr lang="en-US" dirty="0">
                          <a:solidFill>
                            <a:schemeClr val="tx1"/>
                          </a:solidFill>
                          <a:latin typeface="Times New Roman"/>
                        </a:rPr>
                        <a:t>    2203A51023</a:t>
                      </a:r>
                    </a:p>
                  </a:txBody>
                  <a:tcPr/>
                </a:tc>
                <a:extLst>
                  <a:ext uri="{0D108BD9-81ED-4DB2-BD59-A6C34878D82A}">
                    <a16:rowId xmlns:a16="http://schemas.microsoft.com/office/drawing/2014/main" val="4148853043"/>
                  </a:ext>
                </a:extLst>
              </a:tr>
              <a:tr h="302579">
                <a:tc>
                  <a:txBody>
                    <a:bodyPr/>
                    <a:lstStyle/>
                    <a:p>
                      <a:pPr lvl="0">
                        <a:buNone/>
                      </a:pPr>
                      <a:r>
                        <a:rPr lang="en-US" sz="1800" b="0" kern="1200" dirty="0">
                          <a:solidFill>
                            <a:schemeClr val="tx1"/>
                          </a:solidFill>
                          <a:effectLst/>
                          <a:latin typeface="+mn-lt"/>
                          <a:ea typeface="+mn-ea"/>
                          <a:cs typeface="+mn-cs"/>
                        </a:rPr>
                        <a:t>MYAKALA CHANDANA</a:t>
                      </a:r>
                      <a:endParaRPr lang="en-US" b="0" dirty="0">
                        <a:solidFill>
                          <a:schemeClr val="tx1"/>
                        </a:solidFill>
                        <a:latin typeface="Times New Roman"/>
                      </a:endParaRPr>
                    </a:p>
                  </a:txBody>
                  <a:tcPr/>
                </a:tc>
                <a:tc>
                  <a:txBody>
                    <a:bodyPr/>
                    <a:lstStyle/>
                    <a:p>
                      <a:r>
                        <a:rPr lang="en-US" dirty="0">
                          <a:solidFill>
                            <a:schemeClr val="tx1"/>
                          </a:solidFill>
                          <a:latin typeface="Times New Roman"/>
                        </a:rPr>
                        <a:t>    2203A51086</a:t>
                      </a:r>
                    </a:p>
                  </a:txBody>
                  <a:tcPr/>
                </a:tc>
                <a:extLst>
                  <a:ext uri="{0D108BD9-81ED-4DB2-BD59-A6C34878D82A}">
                    <a16:rowId xmlns:a16="http://schemas.microsoft.com/office/drawing/2014/main" val="243890741"/>
                  </a:ext>
                </a:extLst>
              </a:tr>
              <a:tr h="302579">
                <a:tc>
                  <a:txBody>
                    <a:bodyPr/>
                    <a:lstStyle/>
                    <a:p>
                      <a:r>
                        <a:rPr lang="en-US" sz="1800" b="0" kern="1200" dirty="0">
                          <a:solidFill>
                            <a:schemeClr val="tx1"/>
                          </a:solidFill>
                          <a:effectLst/>
                          <a:latin typeface="+mn-lt"/>
                          <a:ea typeface="+mn-ea"/>
                          <a:cs typeface="+mn-cs"/>
                        </a:rPr>
                        <a:t>GUMPULA VYSHNAVI</a:t>
                      </a:r>
                      <a:endParaRPr lang="en-US" b="0" dirty="0">
                        <a:solidFill>
                          <a:schemeClr val="tx1"/>
                        </a:solidFill>
                        <a:latin typeface="Times New Roman"/>
                      </a:endParaRPr>
                    </a:p>
                  </a:txBody>
                  <a:tcPr/>
                </a:tc>
                <a:tc>
                  <a:txBody>
                    <a:bodyPr/>
                    <a:lstStyle/>
                    <a:p>
                      <a:r>
                        <a:rPr lang="en-US" dirty="0">
                          <a:solidFill>
                            <a:schemeClr val="tx1"/>
                          </a:solidFill>
                          <a:latin typeface="Times New Roman"/>
                        </a:rPr>
                        <a:t>    2203A51174</a:t>
                      </a:r>
                    </a:p>
                  </a:txBody>
                  <a:tcPr/>
                </a:tc>
                <a:extLst>
                  <a:ext uri="{0D108BD9-81ED-4DB2-BD59-A6C34878D82A}">
                    <a16:rowId xmlns:a16="http://schemas.microsoft.com/office/drawing/2014/main" val="3319514797"/>
                  </a:ext>
                </a:extLst>
              </a:tr>
              <a:tr h="302579">
                <a:tc>
                  <a:txBody>
                    <a:bodyPr/>
                    <a:lstStyle/>
                    <a:p>
                      <a:pPr lvl="0">
                        <a:buNone/>
                      </a:pPr>
                      <a:r>
                        <a:rPr lang="en-US" sz="1800" b="0" kern="1200" dirty="0">
                          <a:solidFill>
                            <a:schemeClr val="tx1"/>
                          </a:solidFill>
                          <a:effectLst/>
                          <a:latin typeface="+mn-lt"/>
                          <a:ea typeface="+mn-ea"/>
                          <a:cs typeface="+mn-cs"/>
                        </a:rPr>
                        <a:t>BEERAM PRANATHI</a:t>
                      </a:r>
                      <a:endParaRPr lang="en-US" b="0" dirty="0">
                        <a:solidFill>
                          <a:schemeClr val="tx1"/>
                        </a:solidFill>
                        <a:latin typeface="Times New Roman"/>
                      </a:endParaRPr>
                    </a:p>
                  </a:txBody>
                  <a:tcPr/>
                </a:tc>
                <a:tc>
                  <a:txBody>
                    <a:bodyPr/>
                    <a:lstStyle/>
                    <a:p>
                      <a:pPr lvl="0">
                        <a:buNone/>
                      </a:pPr>
                      <a:r>
                        <a:rPr lang="en-US" dirty="0">
                          <a:solidFill>
                            <a:schemeClr val="tx1"/>
                          </a:solidFill>
                          <a:latin typeface="Times New Roman"/>
                        </a:rPr>
                        <a:t>    2203A51274</a:t>
                      </a:r>
                    </a:p>
                  </a:txBody>
                  <a:tcPr/>
                </a:tc>
                <a:extLst>
                  <a:ext uri="{0D108BD9-81ED-4DB2-BD59-A6C34878D82A}">
                    <a16:rowId xmlns:a16="http://schemas.microsoft.com/office/drawing/2014/main" val="4277923587"/>
                  </a:ext>
                </a:extLst>
              </a:tr>
              <a:tr h="302579">
                <a:tc>
                  <a:txBody>
                    <a:bodyPr/>
                    <a:lstStyle/>
                    <a:p>
                      <a:pPr lvl="0">
                        <a:buNone/>
                      </a:pPr>
                      <a:r>
                        <a:rPr lang="en-US" sz="1800" b="0" kern="1200" dirty="0">
                          <a:solidFill>
                            <a:schemeClr val="tx1"/>
                          </a:solidFill>
                          <a:effectLst/>
                          <a:latin typeface="+mn-lt"/>
                          <a:ea typeface="+mn-ea"/>
                          <a:cs typeface="+mn-cs"/>
                        </a:rPr>
                        <a:t>UPPU SPANDANA</a:t>
                      </a:r>
                      <a:endParaRPr lang="en-US" b="0" dirty="0">
                        <a:solidFill>
                          <a:schemeClr val="tx1"/>
                        </a:solidFill>
                        <a:latin typeface="Times New Roman"/>
                      </a:endParaRPr>
                    </a:p>
                  </a:txBody>
                  <a:tcPr/>
                </a:tc>
                <a:tc>
                  <a:txBody>
                    <a:bodyPr/>
                    <a:lstStyle/>
                    <a:p>
                      <a:pPr lvl="0">
                        <a:buNone/>
                      </a:pPr>
                      <a:r>
                        <a:rPr lang="en-US" dirty="0">
                          <a:solidFill>
                            <a:schemeClr val="tx1"/>
                          </a:solidFill>
                          <a:latin typeface="Times New Roman"/>
                        </a:rPr>
                        <a:t>    2203A51456</a:t>
                      </a:r>
                    </a:p>
                  </a:txBody>
                  <a:tcPr/>
                </a:tc>
                <a:extLst>
                  <a:ext uri="{0D108BD9-81ED-4DB2-BD59-A6C34878D82A}">
                    <a16:rowId xmlns:a16="http://schemas.microsoft.com/office/drawing/2014/main" val="964866458"/>
                  </a:ext>
                </a:extLst>
              </a:tr>
            </a:tbl>
          </a:graphicData>
        </a:graphic>
      </p:graphicFrame>
      <p:sp>
        <p:nvSpPr>
          <p:cNvPr id="11" name="TextBox 10">
            <a:extLst>
              <a:ext uri="{FF2B5EF4-FFF2-40B4-BE49-F238E27FC236}">
                <a16:creationId xmlns:a16="http://schemas.microsoft.com/office/drawing/2014/main" id="{48763DE7-7414-5634-94C5-BD0A5D398115}"/>
              </a:ext>
            </a:extLst>
          </p:cNvPr>
          <p:cNvSpPr txBox="1"/>
          <p:nvPr/>
        </p:nvSpPr>
        <p:spPr>
          <a:xfrm>
            <a:off x="6025243" y="5459238"/>
            <a:ext cx="5328557" cy="646331"/>
          </a:xfrm>
          <a:prstGeom prst="rect">
            <a:avLst/>
          </a:prstGeom>
          <a:noFill/>
        </p:spPr>
        <p:txBody>
          <a:bodyPr wrap="square">
            <a:spAutoFit/>
          </a:bodyPr>
          <a:lstStyle/>
          <a:p>
            <a:r>
              <a:rPr lang="en-US" b="1" i="0" dirty="0">
                <a:solidFill>
                  <a:srgbClr val="141413"/>
                </a:solidFill>
                <a:effectLst/>
                <a:latin typeface="Times New Roman" panose="02020603050405020304" pitchFamily="18" charset="0"/>
                <a:cs typeface="Times New Roman" panose="02020603050405020304" pitchFamily="18" charset="0"/>
              </a:rPr>
              <a:t>Guide:</a:t>
            </a:r>
            <a:r>
              <a:rPr lang="en-US" b="0" i="0" dirty="0">
                <a:solidFill>
                  <a:srgbClr val="141413"/>
                </a:solidFill>
                <a:effectLst/>
                <a:latin typeface="Times New Roman" panose="02020603050405020304" pitchFamily="18" charset="0"/>
                <a:cs typeface="Times New Roman" panose="02020603050405020304" pitchFamily="18" charset="0"/>
              </a:rPr>
              <a:t> </a:t>
            </a:r>
            <a:r>
              <a:rPr lang="en-US" dirty="0"/>
              <a:t>Dr. M. Shashikala</a:t>
            </a:r>
            <a:br>
              <a:rPr lang="en-US" dirty="0">
                <a:latin typeface="Times New Roman" panose="02020603050405020304" pitchFamily="18" charset="0"/>
                <a:cs typeface="Times New Roman" panose="02020603050405020304" pitchFamily="18" charset="0"/>
              </a:rPr>
            </a:br>
            <a:r>
              <a:rPr lang="en-US" b="1" i="0" dirty="0">
                <a:solidFill>
                  <a:srgbClr val="141413"/>
                </a:solidFill>
                <a:effectLst/>
                <a:latin typeface="Times New Roman" panose="02020603050405020304" pitchFamily="18" charset="0"/>
                <a:cs typeface="Times New Roman" panose="02020603050405020304" pitchFamily="18" charset="0"/>
              </a:rPr>
              <a:t>Institution:</a:t>
            </a:r>
            <a:r>
              <a:rPr lang="en-US" b="0" i="0" dirty="0">
                <a:solidFill>
                  <a:srgbClr val="141413"/>
                </a:solidFill>
                <a:effectLst/>
                <a:latin typeface="Times New Roman" panose="02020603050405020304" pitchFamily="18" charset="0"/>
                <a:cs typeface="Times New Roman" panose="02020603050405020304" pitchFamily="18" charset="0"/>
              </a:rPr>
              <a:t> SR University, Warangal</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86909287"/>
      </p:ext>
    </p:extLst>
  </p:cSld>
  <p:clrMapOvr>
    <a:masterClrMapping/>
  </p:clrMapOvr>
  <mc:AlternateContent xmlns:mc="http://schemas.openxmlformats.org/markup-compatibility/2006" xmlns:p14="http://schemas.microsoft.com/office/powerpoint/2010/main">
    <mc:Choice Requires="p14">
      <p:transition spd="slow" p14:dur="2000" advTm="52630"/>
    </mc:Choice>
    <mc:Fallback xmlns="">
      <p:transition spd="slow" advTm="5263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BFE1-ED6F-7EC2-192D-57DBA01A4226}"/>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81BD06ED-C8CF-5AFD-2A32-A20AD6546E96}"/>
              </a:ext>
            </a:extLst>
          </p:cNvPr>
          <p:cNvPicPr>
            <a:picLocks noChangeAspect="1"/>
          </p:cNvPicPr>
          <p:nvPr/>
        </p:nvPicPr>
        <p:blipFill>
          <a:blip r:embed="rId2"/>
          <a:stretch>
            <a:fillRect/>
          </a:stretch>
        </p:blipFill>
        <p:spPr>
          <a:xfrm>
            <a:off x="317643" y="144259"/>
            <a:ext cx="1719435" cy="677445"/>
          </a:xfrm>
          <a:prstGeom prst="rect">
            <a:avLst/>
          </a:prstGeom>
        </p:spPr>
      </p:pic>
      <p:sp>
        <p:nvSpPr>
          <p:cNvPr id="15" name="Slide Number Placeholder 14">
            <a:extLst>
              <a:ext uri="{FF2B5EF4-FFF2-40B4-BE49-F238E27FC236}">
                <a16:creationId xmlns:a16="http://schemas.microsoft.com/office/drawing/2014/main" id="{EB4EA2E9-3C2F-34CB-DAEC-7EC6599EE802}"/>
              </a:ext>
            </a:extLst>
          </p:cNvPr>
          <p:cNvSpPr>
            <a:spLocks noGrp="1"/>
          </p:cNvSpPr>
          <p:nvPr>
            <p:ph type="sldNum" sz="quarter" idx="12"/>
          </p:nvPr>
        </p:nvSpPr>
        <p:spPr/>
        <p:txBody>
          <a:bodyPr/>
          <a:lstStyle/>
          <a:p>
            <a:fld id="{6EFE7C99-B088-4EBB-BFF6-BECCC96D5DD8}" type="slidenum">
              <a:rPr lang="en-US" smtClean="0"/>
              <a:t>2</a:t>
            </a:fld>
            <a:endParaRPr lang="en-US"/>
          </a:p>
        </p:txBody>
      </p:sp>
      <p:sp>
        <p:nvSpPr>
          <p:cNvPr id="10" name="TextBox 9">
            <a:extLst>
              <a:ext uri="{FF2B5EF4-FFF2-40B4-BE49-F238E27FC236}">
                <a16:creationId xmlns:a16="http://schemas.microsoft.com/office/drawing/2014/main" id="{1DD8926E-E6CD-47A8-C686-609E93C942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F3D4284-B1D3-A5E2-A93F-973A5711AA19}"/>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80A12543-5A09-E3C0-6F82-0B8065076D7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DD12FAA-EECC-9AB8-5A9F-72B936984F58}"/>
                </a:ext>
              </a:extLst>
            </p:cNvPr>
            <p:cNvSpPr txBox="1"/>
            <p:nvPr/>
          </p:nvSpPr>
          <p:spPr>
            <a:xfrm>
              <a:off x="2394530" y="273031"/>
              <a:ext cx="9687560" cy="523220"/>
            </a:xfrm>
            <a:prstGeom prst="rect">
              <a:avLst/>
            </a:prstGeom>
            <a:grpFill/>
          </p:spPr>
          <p:txBody>
            <a:bodyPr wrap="square" rtlCol="0">
              <a:spAutoFit/>
            </a:bodyPr>
            <a:lstStyle/>
            <a:p>
              <a:pPr algn="ctr"/>
              <a:r>
                <a:rPr lang="en-US" sz="2800" b="1" dirty="0">
                  <a:solidFill>
                    <a:schemeClr val="bg1"/>
                  </a:solidFill>
                  <a:latin typeface="Times New Roman" panose="02020603050405020304" pitchFamily="18" charset="0"/>
                  <a:cs typeface="Times New Roman" panose="02020603050405020304" pitchFamily="18" charset="0"/>
                </a:rPr>
                <a:t>Introduction</a:t>
              </a:r>
            </a:p>
          </p:txBody>
        </p:sp>
      </p:grpSp>
      <p:sp>
        <p:nvSpPr>
          <p:cNvPr id="6" name="TextBox 5">
            <a:extLst>
              <a:ext uri="{FF2B5EF4-FFF2-40B4-BE49-F238E27FC236}">
                <a16:creationId xmlns:a16="http://schemas.microsoft.com/office/drawing/2014/main" id="{1C4BADD4-1BE2-594D-921D-08DD3617CA61}"/>
              </a:ext>
            </a:extLst>
          </p:cNvPr>
          <p:cNvSpPr txBox="1"/>
          <p:nvPr/>
        </p:nvSpPr>
        <p:spPr>
          <a:xfrm>
            <a:off x="699794" y="960372"/>
            <a:ext cx="10654006" cy="5209624"/>
          </a:xfrm>
          <a:prstGeom prst="rect">
            <a:avLst/>
          </a:prstGeom>
          <a:noFill/>
        </p:spPr>
        <p:txBody>
          <a:bodyPr wrap="square">
            <a:spAutoFit/>
          </a:bodyPr>
          <a:lstStyle/>
          <a:p>
            <a:r>
              <a:rPr lang="en-IN" b="1" dirty="0"/>
              <a:t>The Deepfake Crisis:</a:t>
            </a:r>
            <a:endParaRPr lang="en-US" b="1" i="0" dirty="0">
              <a:solidFill>
                <a:srgbClr val="141413"/>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Deepfakes are rapidly increasing across social media and digital platforms</a:t>
            </a: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Pose major threats to </a:t>
            </a:r>
            <a:r>
              <a:rPr lang="en-US" b="1" dirty="0">
                <a:latin typeface="Times New Roman" panose="02020603050405020304" pitchFamily="18" charset="0"/>
                <a:cs typeface="Times New Roman" panose="02020603050405020304" pitchFamily="18" charset="0"/>
              </a:rPr>
              <a:t>privacy, security, and information authenticity</a:t>
            </a:r>
          </a:p>
          <a:p>
            <a:pPr>
              <a:buFont typeface="Arial" panose="020B0604020202020204" pitchFamily="34" charset="0"/>
              <a:buChar char="•"/>
            </a:pPr>
            <a:r>
              <a:rPr lang="en-US" dirty="0"/>
              <a:t>Urgent need to control misuse due to rising global digital dependence</a:t>
            </a:r>
          </a:p>
          <a:p>
            <a:endParaRPr lang="en-US" b="0" i="0" dirty="0">
              <a:solidFill>
                <a:srgbClr val="141413"/>
              </a:solidFill>
              <a:effectLst/>
              <a:latin typeface="Times New Roman" panose="02020603050405020304" pitchFamily="18" charset="0"/>
              <a:cs typeface="Times New Roman" panose="02020603050405020304" pitchFamily="18" charset="0"/>
            </a:endParaRPr>
          </a:p>
          <a:p>
            <a:pPr algn="l">
              <a:buNone/>
            </a:pPr>
            <a:r>
              <a:rPr lang="en-US" b="1" i="0" dirty="0">
                <a:solidFill>
                  <a:srgbClr val="141413"/>
                </a:solidFill>
                <a:effectLst/>
                <a:latin typeface="Times New Roman" panose="02020603050405020304" pitchFamily="18" charset="0"/>
                <a:cs typeface="Times New Roman" panose="02020603050405020304" pitchFamily="18" charset="0"/>
              </a:rPr>
              <a:t>Current Limitations:</a:t>
            </a:r>
          </a:p>
          <a:p>
            <a:r>
              <a:rPr lang="en-US" dirty="0">
                <a:latin typeface="Times New Roman" panose="02020603050405020304" pitchFamily="18" charset="0"/>
                <a:cs typeface="Times New Roman" panose="02020603050405020304" pitchFamily="18" charset="0"/>
              </a:rPr>
              <a:t>Manual verification of media is slow and inefficient.</a:t>
            </a:r>
            <a:br>
              <a:rPr lang="en-US" b="0" i="0" dirty="0">
                <a:solidFill>
                  <a:srgbClr val="141413"/>
                </a:solidFill>
                <a:effectLst/>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Reactive actions only after misinformation spreads.</a:t>
            </a:r>
            <a:br>
              <a:rPr lang="en-US" b="0" i="0" dirty="0">
                <a:solidFill>
                  <a:srgbClr val="141413"/>
                </a:solidFill>
                <a:effectLst/>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Traditional detection methods cannot handle complex manipulations.</a:t>
            </a:r>
            <a:br>
              <a:rPr lang="en-US" b="0" i="0" dirty="0">
                <a:solidFill>
                  <a:srgbClr val="141413"/>
                </a:solidFill>
                <a:effectLst/>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Delayed decision-making due to lack of automated tools.</a:t>
            </a:r>
          </a:p>
          <a:p>
            <a:endParaRPr lang="en-US" b="0" i="0" dirty="0">
              <a:solidFill>
                <a:srgbClr val="141413"/>
              </a:solidFill>
              <a:effectLst/>
              <a:latin typeface="Times New Roman" panose="02020603050405020304" pitchFamily="18" charset="0"/>
              <a:cs typeface="Times New Roman" panose="02020603050405020304" pitchFamily="18" charset="0"/>
            </a:endParaRPr>
          </a:p>
          <a:p>
            <a:pPr algn="l">
              <a:buNone/>
            </a:pPr>
            <a:r>
              <a:rPr lang="en-US" b="1" i="0" dirty="0">
                <a:solidFill>
                  <a:srgbClr val="141413"/>
                </a:solidFill>
                <a:effectLst/>
                <a:latin typeface="Times New Roman" panose="02020603050405020304" pitchFamily="18" charset="0"/>
                <a:cs typeface="Times New Roman" panose="02020603050405020304" pitchFamily="18" charset="0"/>
              </a:rPr>
              <a:t>The Need:</a:t>
            </a:r>
          </a:p>
          <a:p>
            <a:r>
              <a:rPr lang="en-IN" b="1" dirty="0"/>
              <a:t> AI-driven system </a:t>
            </a:r>
            <a:r>
              <a:rPr lang="en-IN" dirty="0"/>
              <a:t>for proactive deepfake detection.</a:t>
            </a:r>
            <a:br>
              <a:rPr lang="en-US" b="0" i="0" dirty="0">
                <a:solidFill>
                  <a:srgbClr val="141413"/>
                </a:solidFill>
                <a:effectLst/>
                <a:latin typeface="Times New Roman" panose="02020603050405020304" pitchFamily="18" charset="0"/>
                <a:cs typeface="Times New Roman" panose="02020603050405020304" pitchFamily="18" charset="0"/>
              </a:rPr>
            </a:br>
            <a:r>
              <a:rPr lang="en-US" b="0" i="0" dirty="0">
                <a:solidFill>
                  <a:srgbClr val="141413"/>
                </a:solidFill>
                <a:effectLst/>
                <a:latin typeface="Times New Roman" panose="02020603050405020304" pitchFamily="18" charset="0"/>
                <a:cs typeface="Times New Roman" panose="02020603050405020304" pitchFamily="18" charset="0"/>
              </a:rPr>
              <a:t> </a:t>
            </a:r>
            <a:r>
              <a:rPr lang="en-US" b="1" dirty="0"/>
              <a:t>Deep learning </a:t>
            </a:r>
            <a:r>
              <a:rPr lang="en-US" dirty="0"/>
              <a:t>to accurately classify real vs fake content.</a:t>
            </a:r>
            <a:br>
              <a:rPr lang="en-US" b="0" i="0" dirty="0">
                <a:solidFill>
                  <a:srgbClr val="141413"/>
                </a:solidFill>
                <a:effectLst/>
                <a:latin typeface="Times New Roman" panose="02020603050405020304" pitchFamily="18" charset="0"/>
                <a:cs typeface="Times New Roman" panose="02020603050405020304" pitchFamily="18" charset="0"/>
              </a:rPr>
            </a:br>
            <a:r>
              <a:rPr lang="en-US" b="0" i="0" dirty="0">
                <a:solidFill>
                  <a:srgbClr val="141413"/>
                </a:solidFill>
                <a:effectLst/>
                <a:latin typeface="Times New Roman" panose="02020603050405020304" pitchFamily="18" charset="0"/>
                <a:cs typeface="Times New Roman" panose="02020603050405020304" pitchFamily="18" charset="0"/>
              </a:rPr>
              <a:t> </a:t>
            </a:r>
            <a:r>
              <a:rPr lang="en-US" b="1" dirty="0"/>
              <a:t>Real-time detection </a:t>
            </a:r>
            <a:r>
              <a:rPr lang="en-US" dirty="0"/>
              <a:t>support for users and authorities.</a:t>
            </a:r>
          </a:p>
          <a:p>
            <a:pPr algn="l">
              <a:buNone/>
            </a:pPr>
            <a:endParaRPr lang="en-US" b="0" i="0" dirty="0">
              <a:solidFill>
                <a:srgbClr val="141413"/>
              </a:solidFill>
              <a:effectLst/>
              <a:latin typeface="Times New Roman" panose="02020603050405020304" pitchFamily="18" charset="0"/>
              <a:cs typeface="Times New Roman" panose="02020603050405020304" pitchFamily="18" charset="0"/>
            </a:endParaRPr>
          </a:p>
          <a:p>
            <a:pPr algn="l">
              <a:buNone/>
            </a:pPr>
            <a:r>
              <a:rPr lang="en-US" b="1" i="0" dirty="0">
                <a:solidFill>
                  <a:srgbClr val="141413"/>
                </a:solidFill>
                <a:effectLst/>
                <a:latin typeface="Times New Roman" panose="02020603050405020304" pitchFamily="18" charset="0"/>
                <a:cs typeface="Times New Roman" panose="02020603050405020304" pitchFamily="18" charset="0"/>
              </a:rPr>
              <a:t>Our Mission:</a:t>
            </a:r>
          </a:p>
          <a:p>
            <a:r>
              <a:rPr lang="en-US" i="1" dirty="0"/>
              <a:t>“Strengthen digital trust by detecting deepfakes through advanced deep learning intelligence.”</a:t>
            </a:r>
            <a:endParaRPr lang="en-US" b="0" i="1" dirty="0">
              <a:solidFill>
                <a:srgbClr val="141413"/>
              </a:solidFill>
              <a:effectLst/>
              <a:latin typeface="Times New Roman" panose="02020603050405020304" pitchFamily="18" charset="0"/>
              <a:cs typeface="Times New Roman" panose="02020603050405020304" pitchFamily="18" charset="0"/>
            </a:endParaRPr>
          </a:p>
        </p:txBody>
      </p:sp>
      <p:pic>
        <p:nvPicPr>
          <p:cNvPr id="1034" name="Picture 10" descr="Deep Fake Detection Challenge - Deep Learning - fast.ai Course Forums">
            <a:extLst>
              <a:ext uri="{FF2B5EF4-FFF2-40B4-BE49-F238E27FC236}">
                <a16:creationId xmlns:a16="http://schemas.microsoft.com/office/drawing/2014/main" id="{546B5D0B-9674-6B9F-5636-64CBFAD90B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24531" y="2357209"/>
            <a:ext cx="4243873" cy="2547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1513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BFE1-ED6F-7EC2-192D-57DBA01A4226}"/>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81BD06ED-C8CF-5AFD-2A32-A20AD6546E96}"/>
              </a:ext>
            </a:extLst>
          </p:cNvPr>
          <p:cNvPicPr>
            <a:picLocks noChangeAspect="1"/>
          </p:cNvPicPr>
          <p:nvPr/>
        </p:nvPicPr>
        <p:blipFill>
          <a:blip r:embed="rId2"/>
          <a:stretch>
            <a:fillRect/>
          </a:stretch>
        </p:blipFill>
        <p:spPr>
          <a:xfrm>
            <a:off x="317643" y="144259"/>
            <a:ext cx="1719435" cy="677445"/>
          </a:xfrm>
          <a:prstGeom prst="rect">
            <a:avLst/>
          </a:prstGeom>
        </p:spPr>
      </p:pic>
      <p:sp>
        <p:nvSpPr>
          <p:cNvPr id="15" name="Slide Number Placeholder 14">
            <a:extLst>
              <a:ext uri="{FF2B5EF4-FFF2-40B4-BE49-F238E27FC236}">
                <a16:creationId xmlns:a16="http://schemas.microsoft.com/office/drawing/2014/main" id="{EB4EA2E9-3C2F-34CB-DAEC-7EC6599EE802}"/>
              </a:ext>
            </a:extLst>
          </p:cNvPr>
          <p:cNvSpPr>
            <a:spLocks noGrp="1"/>
          </p:cNvSpPr>
          <p:nvPr>
            <p:ph type="sldNum" sz="quarter" idx="12"/>
          </p:nvPr>
        </p:nvSpPr>
        <p:spPr/>
        <p:txBody>
          <a:bodyPr/>
          <a:lstStyle/>
          <a:p>
            <a:fld id="{6EFE7C99-B088-4EBB-BFF6-BECCC96D5DD8}" type="slidenum">
              <a:rPr lang="en-US" smtClean="0"/>
              <a:t>3</a:t>
            </a:fld>
            <a:endParaRPr lang="en-US"/>
          </a:p>
        </p:txBody>
      </p:sp>
      <p:sp>
        <p:nvSpPr>
          <p:cNvPr id="10" name="TextBox 9">
            <a:extLst>
              <a:ext uri="{FF2B5EF4-FFF2-40B4-BE49-F238E27FC236}">
                <a16:creationId xmlns:a16="http://schemas.microsoft.com/office/drawing/2014/main" id="{1DD8926E-E6CD-47A8-C686-609E93C942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F3D4284-B1D3-A5E2-A93F-973A5711AA19}"/>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80A12543-5A09-E3C0-6F82-0B8065076D7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DD12FAA-EECC-9AB8-5A9F-72B936984F58}"/>
                </a:ext>
              </a:extLst>
            </p:cNvPr>
            <p:cNvSpPr txBox="1"/>
            <p:nvPr/>
          </p:nvSpPr>
          <p:spPr>
            <a:xfrm>
              <a:off x="2394530" y="273031"/>
              <a:ext cx="9687560" cy="523220"/>
            </a:xfrm>
            <a:prstGeom prst="rect">
              <a:avLst/>
            </a:prstGeom>
            <a:grpFill/>
          </p:spPr>
          <p:txBody>
            <a:bodyPr wrap="square" rtlCol="0">
              <a:spAutoFit/>
            </a:bodyPr>
            <a:lstStyle/>
            <a:p>
              <a:pPr algn="ctr"/>
              <a:r>
                <a:rPr lang="en-US" sz="2800" b="1" dirty="0">
                  <a:solidFill>
                    <a:schemeClr val="bg1"/>
                  </a:solidFill>
                  <a:latin typeface="Times New Roman" panose="02020603050405020304" pitchFamily="18" charset="0"/>
                  <a:cs typeface="Times New Roman" panose="02020603050405020304" pitchFamily="18" charset="0"/>
                </a:rPr>
                <a:t>Problem statement</a:t>
              </a:r>
            </a:p>
          </p:txBody>
        </p:sp>
      </p:grpSp>
      <p:sp>
        <p:nvSpPr>
          <p:cNvPr id="6" name="Text 0">
            <a:extLst>
              <a:ext uri="{FF2B5EF4-FFF2-40B4-BE49-F238E27FC236}">
                <a16:creationId xmlns:a16="http://schemas.microsoft.com/office/drawing/2014/main" id="{3F2CA04D-2FA9-53FE-7D48-BA0863F0807A}"/>
              </a:ext>
            </a:extLst>
          </p:cNvPr>
          <p:cNvSpPr/>
          <p:nvPr/>
        </p:nvSpPr>
        <p:spPr>
          <a:xfrm>
            <a:off x="721360" y="1733518"/>
            <a:ext cx="11206480" cy="4230402"/>
          </a:xfrm>
          <a:prstGeom prst="rect">
            <a:avLst/>
          </a:prstGeom>
          <a:noFill/>
          <a:ln/>
        </p:spPr>
        <p:txBody>
          <a:bodyPr wrap="none" lIns="0" tIns="0" rIns="0" bIns="0" rtlCol="0" anchor="t"/>
          <a:lstStyle/>
          <a:p>
            <a:endParaRPr lang="en-US" sz="24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C80E50D0-8301-8C8D-9E76-716E40DA127B}"/>
              </a:ext>
            </a:extLst>
          </p:cNvPr>
          <p:cNvSpPr txBox="1"/>
          <p:nvPr/>
        </p:nvSpPr>
        <p:spPr>
          <a:xfrm>
            <a:off x="884075" y="1341088"/>
            <a:ext cx="10657891" cy="923330"/>
          </a:xfrm>
          <a:prstGeom prst="rect">
            <a:avLst/>
          </a:prstGeom>
          <a:noFill/>
        </p:spPr>
        <p:txBody>
          <a:bodyPr wrap="square">
            <a:spAutoFit/>
          </a:bodyPr>
          <a:lstStyle/>
          <a:p>
            <a:r>
              <a:rPr lang="en-US" dirty="0"/>
              <a:t>Deepfake media has become a serious global digital security concern, creating major risks related to misinformation, privacy violations, financial fraud, and reputational damage. The increasing realism and complexity of deepfakes make timely identification and prevention extremely challenging.</a:t>
            </a:r>
            <a:endParaRPr lang="en-US" sz="2000" dirty="0">
              <a:latin typeface="Times New Roman"/>
              <a:cs typeface="Times New Roman"/>
            </a:endParaRPr>
          </a:p>
        </p:txBody>
      </p:sp>
      <p:sp>
        <p:nvSpPr>
          <p:cNvPr id="13" name="TextBox 12">
            <a:extLst>
              <a:ext uri="{FF2B5EF4-FFF2-40B4-BE49-F238E27FC236}">
                <a16:creationId xmlns:a16="http://schemas.microsoft.com/office/drawing/2014/main" id="{3AFB0940-03EA-C61C-644D-89844204619E}"/>
              </a:ext>
            </a:extLst>
          </p:cNvPr>
          <p:cNvSpPr txBox="1"/>
          <p:nvPr/>
        </p:nvSpPr>
        <p:spPr>
          <a:xfrm>
            <a:off x="884075" y="2544142"/>
            <a:ext cx="4854838" cy="9002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v"/>
            </a:pPr>
            <a:r>
              <a:rPr lang="en-US" sz="1950" b="1" dirty="0">
                <a:solidFill>
                  <a:srgbClr val="2C2821"/>
                </a:solidFill>
                <a:latin typeface="Times New Roman"/>
                <a:cs typeface="Times New Roman"/>
              </a:rPr>
              <a:t>Major Public Safety Issue:</a:t>
            </a:r>
            <a:endParaRPr lang="en-US" dirty="0"/>
          </a:p>
          <a:p>
            <a:r>
              <a:rPr lang="en-US" sz="1650" dirty="0">
                <a:latin typeface="Lora" pitchFamily="2" charset="0"/>
              </a:rPr>
              <a:t>Leads to misinformation, privacy threats, financial fraud, and reputational damage</a:t>
            </a:r>
            <a:r>
              <a:rPr lang="en-US" sz="1600" dirty="0">
                <a:latin typeface="Lora" pitchFamily="2" charset="0"/>
              </a:rPr>
              <a:t>.</a:t>
            </a:r>
            <a:endParaRPr lang="en-US" dirty="0">
              <a:latin typeface="Lora" pitchFamily="2" charset="0"/>
              <a:cs typeface="Times New Roman"/>
            </a:endParaRPr>
          </a:p>
        </p:txBody>
      </p:sp>
      <p:sp>
        <p:nvSpPr>
          <p:cNvPr id="14" name="TextBox 13">
            <a:extLst>
              <a:ext uri="{FF2B5EF4-FFF2-40B4-BE49-F238E27FC236}">
                <a16:creationId xmlns:a16="http://schemas.microsoft.com/office/drawing/2014/main" id="{AFE98735-F827-8197-5D16-9933D3C89CD3}"/>
              </a:ext>
            </a:extLst>
          </p:cNvPr>
          <p:cNvSpPr txBox="1"/>
          <p:nvPr/>
        </p:nvSpPr>
        <p:spPr>
          <a:xfrm>
            <a:off x="6487312" y="2432097"/>
            <a:ext cx="4572000" cy="9002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v"/>
            </a:pPr>
            <a:r>
              <a:rPr lang="en-US" sz="1950" b="1" dirty="0">
                <a:solidFill>
                  <a:srgbClr val="2C2821"/>
                </a:solidFill>
                <a:latin typeface="Times New Roman" panose="02020603050405020304" pitchFamily="18" charset="0"/>
                <a:cs typeface="Times New Roman" panose="02020603050405020304" pitchFamily="18" charset="0"/>
              </a:rPr>
              <a:t>Lack of Timely Tools</a:t>
            </a:r>
            <a:r>
              <a:rPr lang="en-US" sz="1950" b="1" dirty="0">
                <a:solidFill>
                  <a:srgbClr val="2C2821"/>
                </a:solidFill>
                <a:latin typeface="Alice"/>
              </a:rPr>
              <a:t>:</a:t>
            </a:r>
            <a:endParaRPr lang="en-US" dirty="0"/>
          </a:p>
          <a:p>
            <a:r>
              <a:rPr lang="en-US" sz="1650" dirty="0">
                <a:latin typeface="Lora" pitchFamily="2" charset="0"/>
              </a:rPr>
              <a:t>Authorities and users lack fast, AI-based systems to identify deepfakes instantly.</a:t>
            </a:r>
          </a:p>
        </p:txBody>
      </p:sp>
      <p:sp>
        <p:nvSpPr>
          <p:cNvPr id="16" name="TextBox 15">
            <a:extLst>
              <a:ext uri="{FF2B5EF4-FFF2-40B4-BE49-F238E27FC236}">
                <a16:creationId xmlns:a16="http://schemas.microsoft.com/office/drawing/2014/main" id="{256EA427-C0BB-A473-0127-91656014A1FC}"/>
              </a:ext>
            </a:extLst>
          </p:cNvPr>
          <p:cNvSpPr txBox="1"/>
          <p:nvPr/>
        </p:nvSpPr>
        <p:spPr>
          <a:xfrm>
            <a:off x="751114" y="3782881"/>
            <a:ext cx="4838031" cy="14080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v"/>
            </a:pPr>
            <a:r>
              <a:rPr lang="en-US" sz="1950" b="1" dirty="0">
                <a:solidFill>
                  <a:srgbClr val="2C2821"/>
                </a:solidFill>
                <a:latin typeface="Times New Roman"/>
                <a:cs typeface="Times New Roman"/>
              </a:rPr>
              <a:t>Multifactorial Dependency:</a:t>
            </a:r>
            <a:endParaRPr lang="en-US" dirty="0"/>
          </a:p>
          <a:p>
            <a:r>
              <a:rPr lang="en-US" sz="1650" dirty="0">
                <a:latin typeface="Lora" pitchFamily="2" charset="0"/>
              </a:rPr>
              <a:t>Deepfake detection is affected by multiple factors, including facial variations, lighting conditions, video quality, and advanced manipulation techniques.</a:t>
            </a:r>
            <a:endParaRPr lang="en-US" sz="1650" b="1" dirty="0">
              <a:solidFill>
                <a:srgbClr val="2C2821"/>
              </a:solidFill>
              <a:latin typeface="Lora" pitchFamily="2" charset="0"/>
              <a:cs typeface="Times New Roman"/>
            </a:endParaRPr>
          </a:p>
        </p:txBody>
      </p:sp>
      <p:sp>
        <p:nvSpPr>
          <p:cNvPr id="17" name="TextBox 16">
            <a:extLst>
              <a:ext uri="{FF2B5EF4-FFF2-40B4-BE49-F238E27FC236}">
                <a16:creationId xmlns:a16="http://schemas.microsoft.com/office/drawing/2014/main" id="{6C8ABDCD-2E29-B22A-E1D8-761092E54518}"/>
              </a:ext>
            </a:extLst>
          </p:cNvPr>
          <p:cNvSpPr txBox="1"/>
          <p:nvPr/>
        </p:nvSpPr>
        <p:spPr>
          <a:xfrm>
            <a:off x="6607628" y="3777344"/>
            <a:ext cx="4680856" cy="11541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Wingdings"/>
              <a:buChar char="v"/>
            </a:pPr>
            <a:r>
              <a:rPr lang="en-US" sz="1950" b="1" dirty="0">
                <a:solidFill>
                  <a:srgbClr val="2C2821"/>
                </a:solidFill>
                <a:latin typeface="Times New Roman"/>
                <a:cs typeface="Times New Roman"/>
              </a:rPr>
              <a:t>Inefficient Manual Analysis:</a:t>
            </a:r>
            <a:endParaRPr lang="en-US" dirty="0"/>
          </a:p>
          <a:p>
            <a:r>
              <a:rPr lang="en-US" sz="1650" dirty="0">
                <a:latin typeface="Lora" pitchFamily="2" charset="0"/>
              </a:rPr>
              <a:t>Human inspection is slow, unreliable, and cannot keep up with the massive volume of online images and videos.</a:t>
            </a:r>
          </a:p>
        </p:txBody>
      </p:sp>
    </p:spTree>
    <p:extLst>
      <p:ext uri="{BB962C8B-B14F-4D97-AF65-F5344CB8AC3E}">
        <p14:creationId xmlns:p14="http://schemas.microsoft.com/office/powerpoint/2010/main" val="35598354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BFE1-ED6F-7EC2-192D-57DBA01A4226}"/>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81BD06ED-C8CF-5AFD-2A32-A20AD6546E96}"/>
              </a:ext>
            </a:extLst>
          </p:cNvPr>
          <p:cNvPicPr>
            <a:picLocks noChangeAspect="1"/>
          </p:cNvPicPr>
          <p:nvPr/>
        </p:nvPicPr>
        <p:blipFill>
          <a:blip r:embed="rId2"/>
          <a:stretch>
            <a:fillRect/>
          </a:stretch>
        </p:blipFill>
        <p:spPr>
          <a:xfrm>
            <a:off x="317643" y="144259"/>
            <a:ext cx="1719435" cy="677445"/>
          </a:xfrm>
          <a:prstGeom prst="rect">
            <a:avLst/>
          </a:prstGeom>
        </p:spPr>
      </p:pic>
      <p:sp>
        <p:nvSpPr>
          <p:cNvPr id="15" name="Slide Number Placeholder 14">
            <a:extLst>
              <a:ext uri="{FF2B5EF4-FFF2-40B4-BE49-F238E27FC236}">
                <a16:creationId xmlns:a16="http://schemas.microsoft.com/office/drawing/2014/main" id="{EB4EA2E9-3C2F-34CB-DAEC-7EC6599EE802}"/>
              </a:ext>
            </a:extLst>
          </p:cNvPr>
          <p:cNvSpPr>
            <a:spLocks noGrp="1"/>
          </p:cNvSpPr>
          <p:nvPr>
            <p:ph type="sldNum" sz="quarter" idx="12"/>
          </p:nvPr>
        </p:nvSpPr>
        <p:spPr/>
        <p:txBody>
          <a:bodyPr/>
          <a:lstStyle/>
          <a:p>
            <a:fld id="{6EFE7C99-B088-4EBB-BFF6-BECCC96D5DD8}" type="slidenum">
              <a:rPr lang="en-US" smtClean="0"/>
              <a:t>4</a:t>
            </a:fld>
            <a:endParaRPr lang="en-US"/>
          </a:p>
        </p:txBody>
      </p:sp>
      <p:sp>
        <p:nvSpPr>
          <p:cNvPr id="10" name="TextBox 9">
            <a:extLst>
              <a:ext uri="{FF2B5EF4-FFF2-40B4-BE49-F238E27FC236}">
                <a16:creationId xmlns:a16="http://schemas.microsoft.com/office/drawing/2014/main" id="{1DD8926E-E6CD-47A8-C686-609E93C942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F3D4284-B1D3-A5E2-A93F-973A5711AA19}"/>
              </a:ext>
            </a:extLst>
          </p:cNvPr>
          <p:cNvGrpSpPr/>
          <p:nvPr/>
        </p:nvGrpSpPr>
        <p:grpSpPr>
          <a:xfrm>
            <a:off x="2279552" y="125786"/>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80A12543-5A09-E3C0-6F82-0B8065076D7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DD12FAA-EECC-9AB8-5A9F-72B936984F58}"/>
                </a:ext>
              </a:extLst>
            </p:cNvPr>
            <p:cNvSpPr txBox="1"/>
            <p:nvPr/>
          </p:nvSpPr>
          <p:spPr>
            <a:xfrm>
              <a:off x="2394530" y="273031"/>
              <a:ext cx="9687560" cy="523220"/>
            </a:xfrm>
            <a:prstGeom prst="rect">
              <a:avLst/>
            </a:prstGeom>
            <a:grpFill/>
          </p:spPr>
          <p:txBody>
            <a:bodyPr wrap="square" rtlCol="0">
              <a:spAutoFit/>
            </a:bodyPr>
            <a:lstStyle/>
            <a:p>
              <a:pPr algn="ctr"/>
              <a:r>
                <a:rPr lang="en-US" sz="2800" b="1" dirty="0">
                  <a:solidFill>
                    <a:schemeClr val="bg1"/>
                  </a:solidFill>
                  <a:latin typeface="Times New Roman" panose="02020603050405020304" pitchFamily="18" charset="0"/>
                  <a:cs typeface="Times New Roman" panose="02020603050405020304" pitchFamily="18" charset="0"/>
                </a:rPr>
                <a:t>Proposed Solution</a:t>
              </a:r>
            </a:p>
          </p:txBody>
        </p:sp>
      </p:grpSp>
      <p:sp>
        <p:nvSpPr>
          <p:cNvPr id="6" name="Text 0">
            <a:extLst>
              <a:ext uri="{FF2B5EF4-FFF2-40B4-BE49-F238E27FC236}">
                <a16:creationId xmlns:a16="http://schemas.microsoft.com/office/drawing/2014/main" id="{3F2CA04D-2FA9-53FE-7D48-BA0863F0807A}"/>
              </a:ext>
            </a:extLst>
          </p:cNvPr>
          <p:cNvSpPr/>
          <p:nvPr/>
        </p:nvSpPr>
        <p:spPr>
          <a:xfrm>
            <a:off x="721360" y="1733518"/>
            <a:ext cx="11206480" cy="4230402"/>
          </a:xfrm>
          <a:prstGeom prst="rect">
            <a:avLst/>
          </a:prstGeom>
          <a:noFill/>
          <a:ln/>
        </p:spPr>
        <p:txBody>
          <a:bodyPr wrap="none" lIns="0" tIns="0" rIns="0" bIns="0" rtlCol="0" anchor="t"/>
          <a:lstStyle/>
          <a:p>
            <a:endParaRPr lang="en-US" sz="2400"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56CFACE1-3AF9-41D3-AFCD-E06A2F795428}"/>
              </a:ext>
            </a:extLst>
          </p:cNvPr>
          <p:cNvSpPr txBox="1"/>
          <p:nvPr/>
        </p:nvSpPr>
        <p:spPr>
          <a:xfrm>
            <a:off x="721359" y="1069125"/>
            <a:ext cx="10148803" cy="4832092"/>
          </a:xfrm>
          <a:prstGeom prst="rect">
            <a:avLst/>
          </a:prstGeom>
          <a:noFill/>
        </p:spPr>
        <p:txBody>
          <a:bodyPr wrap="square">
            <a:spAutoFit/>
          </a:bodyPr>
          <a:lstStyle/>
          <a:p>
            <a:r>
              <a:rPr lang="en-US" sz="2000" dirty="0">
                <a:latin typeface="Times New Roman" panose="02020603050405020304" pitchFamily="18" charset="0"/>
                <a:cs typeface="Times New Roman" panose="02020603050405020304" pitchFamily="18" charset="0"/>
              </a:rPr>
              <a:t>A Deep Learning Approach for Deepfake Detection</a:t>
            </a:r>
          </a:p>
          <a:p>
            <a:endParaRPr lang="en-US" dirty="0">
              <a:latin typeface="Times New Roman" panose="02020603050405020304" pitchFamily="18" charset="0"/>
              <a:cs typeface="Times New Roman" panose="02020603050405020304" pitchFamily="18" charset="0"/>
            </a:endParaRPr>
          </a:p>
          <a:p>
            <a:pPr marL="342900" indent="-342900">
              <a:buAutoNum type="arabicPeriod"/>
            </a:pPr>
            <a:r>
              <a:rPr lang="en-US" sz="1800" b="1" dirty="0">
                <a:latin typeface="Times New Roman" panose="02020603050405020304" pitchFamily="18" charset="0"/>
                <a:ea typeface="+mn-lt"/>
                <a:cs typeface="Times New Roman" panose="02020603050405020304" pitchFamily="18" charset="0"/>
              </a:rPr>
              <a:t>Data Integration and Preprocessing:</a:t>
            </a:r>
            <a:r>
              <a:rPr lang="en-US" sz="1800" dirty="0">
                <a:latin typeface="Times New Roman" panose="02020603050405020304" pitchFamily="18" charset="0"/>
                <a:ea typeface="+mn-lt"/>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Frames are extracted from real and fake videos in the </a:t>
            </a:r>
            <a:r>
              <a:rPr lang="en-US" dirty="0" err="1">
                <a:latin typeface="Times New Roman" panose="02020603050405020304" pitchFamily="18" charset="0"/>
                <a:cs typeface="Times New Roman" panose="02020603050405020304" pitchFamily="18" charset="0"/>
              </a:rPr>
              <a:t>FaceForensics</a:t>
            </a:r>
            <a:r>
              <a:rPr lang="en-US" dirty="0">
                <a:latin typeface="Times New Roman" panose="02020603050405020304" pitchFamily="18" charset="0"/>
                <a:cs typeface="Times New Roman" panose="02020603050405020304" pitchFamily="18" charset="0"/>
              </a:rPr>
              <a:t>++ dataset.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Faces are detected using </a:t>
            </a:r>
            <a:r>
              <a:rPr lang="en-US" dirty="0" err="1">
                <a:latin typeface="Times New Roman" panose="02020603050405020304" pitchFamily="18" charset="0"/>
                <a:cs typeface="Times New Roman" panose="02020603050405020304" pitchFamily="18" charset="0"/>
              </a:rPr>
              <a:t>Haarcascade</a:t>
            </a:r>
            <a:r>
              <a:rPr lang="en-US" dirty="0">
                <a:latin typeface="Times New Roman" panose="02020603050405020304" pitchFamily="18" charset="0"/>
                <a:cs typeface="Times New Roman" panose="02020603050405020304" pitchFamily="18" charset="0"/>
              </a:rPr>
              <a:t>, then resized, normalized, and augmented for training.</a:t>
            </a:r>
          </a:p>
          <a:p>
            <a:endParaRPr lang="en-US" dirty="0">
              <a:latin typeface="Times New Roman" panose="02020603050405020304" pitchFamily="18" charset="0"/>
              <a:cs typeface="Times New Roman" panose="02020603050405020304" pitchFamily="18" charset="0"/>
            </a:endParaRPr>
          </a:p>
          <a:p>
            <a:r>
              <a:rPr lang="en-US" sz="1800" b="1" dirty="0">
                <a:latin typeface="Times New Roman" panose="02020603050405020304" pitchFamily="18" charset="0"/>
                <a:ea typeface="+mn-lt"/>
                <a:cs typeface="Times New Roman" panose="02020603050405020304" pitchFamily="18" charset="0"/>
              </a:rPr>
              <a:t>2. Exploratory Data Analysis (EDA):</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Analysis is performed to observe differences between real and fake images.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Includes visualizing facial artifacts, texture variations, and compression effects.</a:t>
            </a:r>
          </a:p>
          <a:p>
            <a:endParaRPr lang="en-US" dirty="0"/>
          </a:p>
          <a:p>
            <a:r>
              <a:rPr lang="en-US" sz="1800" b="1" dirty="0">
                <a:latin typeface="Times New Roman" panose="02020603050405020304" pitchFamily="18" charset="0"/>
                <a:ea typeface="+mn-lt"/>
                <a:cs typeface="Times New Roman" panose="02020603050405020304" pitchFamily="18" charset="0"/>
              </a:rPr>
              <a:t>3. Model Development and Training:</a:t>
            </a:r>
            <a:br>
              <a:rPr lang="en-US" sz="1800" b="1" dirty="0">
                <a:latin typeface="Times New Roman" panose="02020603050405020304" pitchFamily="18" charset="0"/>
                <a:ea typeface="+mn-lt"/>
                <a:cs typeface="Times New Roman" panose="02020603050405020304" pitchFamily="18" charset="0"/>
              </a:rPr>
            </a:br>
            <a:r>
              <a:rPr lang="en-US" dirty="0">
                <a:latin typeface="Times New Roman" panose="02020603050405020304" pitchFamily="18" charset="0"/>
                <a:cs typeface="Times New Roman" panose="02020603050405020304" pitchFamily="18" charset="0"/>
              </a:rPr>
              <a:t>A deep learning model (ResNet18 with transfer learning) is trained for binary classification.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Fine-tuning is applied to improve accuracy in detecting manipulated facial regions.</a:t>
            </a:r>
          </a:p>
          <a:p>
            <a:endParaRPr lang="en-US" sz="1800" dirty="0">
              <a:latin typeface="Times New Roman" panose="02020603050405020304" pitchFamily="18" charset="0"/>
              <a:ea typeface="+mn-lt"/>
              <a:cs typeface="Times New Roman" panose="02020603050405020304" pitchFamily="18" charset="0"/>
            </a:endParaRPr>
          </a:p>
          <a:p>
            <a:r>
              <a:rPr lang="en-US" sz="1800" b="1" dirty="0">
                <a:latin typeface="Times New Roman" panose="02020603050405020304" pitchFamily="18" charset="0"/>
                <a:ea typeface="+mn-lt"/>
                <a:cs typeface="Times New Roman" panose="02020603050405020304" pitchFamily="18" charset="0"/>
              </a:rPr>
              <a:t>4. Model Evaluation:</a:t>
            </a:r>
            <a:br>
              <a:rPr lang="en-US" sz="1800" b="1" dirty="0">
                <a:latin typeface="Times New Roman" panose="02020603050405020304" pitchFamily="18" charset="0"/>
                <a:ea typeface="+mn-lt"/>
                <a:cs typeface="Times New Roman" panose="02020603050405020304" pitchFamily="18" charset="0"/>
              </a:rPr>
            </a:br>
            <a:r>
              <a:rPr lang="en-US" dirty="0">
                <a:latin typeface="Times New Roman" panose="02020603050405020304" pitchFamily="18" charset="0"/>
                <a:cs typeface="Times New Roman" panose="02020603050405020304" pitchFamily="18" charset="0"/>
              </a:rPr>
              <a:t>Model performance is evaluated using accuracy, precision, recall, F1-score, and confusion matrix</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assess classification effectiveness for real vs fake images.</a:t>
            </a: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120700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BFE1-ED6F-7EC2-192D-57DBA01A4226}"/>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81BD06ED-C8CF-5AFD-2A32-A20AD6546E96}"/>
              </a:ext>
            </a:extLst>
          </p:cNvPr>
          <p:cNvPicPr>
            <a:picLocks noChangeAspect="1"/>
          </p:cNvPicPr>
          <p:nvPr/>
        </p:nvPicPr>
        <p:blipFill>
          <a:blip r:embed="rId2"/>
          <a:stretch>
            <a:fillRect/>
          </a:stretch>
        </p:blipFill>
        <p:spPr>
          <a:xfrm>
            <a:off x="317643" y="144259"/>
            <a:ext cx="1719435" cy="677445"/>
          </a:xfrm>
          <a:prstGeom prst="rect">
            <a:avLst/>
          </a:prstGeom>
        </p:spPr>
      </p:pic>
      <p:sp>
        <p:nvSpPr>
          <p:cNvPr id="15" name="Slide Number Placeholder 14">
            <a:extLst>
              <a:ext uri="{FF2B5EF4-FFF2-40B4-BE49-F238E27FC236}">
                <a16:creationId xmlns:a16="http://schemas.microsoft.com/office/drawing/2014/main" id="{EB4EA2E9-3C2F-34CB-DAEC-7EC6599EE802}"/>
              </a:ext>
            </a:extLst>
          </p:cNvPr>
          <p:cNvSpPr>
            <a:spLocks noGrp="1"/>
          </p:cNvSpPr>
          <p:nvPr>
            <p:ph type="sldNum" sz="quarter" idx="12"/>
          </p:nvPr>
        </p:nvSpPr>
        <p:spPr/>
        <p:txBody>
          <a:bodyPr/>
          <a:lstStyle/>
          <a:p>
            <a:fld id="{6EFE7C99-B088-4EBB-BFF6-BECCC96D5DD8}" type="slidenum">
              <a:rPr lang="en-US" smtClean="0"/>
              <a:t>5</a:t>
            </a:fld>
            <a:endParaRPr lang="en-US"/>
          </a:p>
        </p:txBody>
      </p:sp>
      <p:sp>
        <p:nvSpPr>
          <p:cNvPr id="10" name="TextBox 9">
            <a:extLst>
              <a:ext uri="{FF2B5EF4-FFF2-40B4-BE49-F238E27FC236}">
                <a16:creationId xmlns:a16="http://schemas.microsoft.com/office/drawing/2014/main" id="{1DD8926E-E6CD-47A8-C686-609E93C942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F3D4284-B1D3-A5E2-A93F-973A5711AA19}"/>
              </a:ext>
            </a:extLst>
          </p:cNvPr>
          <p:cNvGrpSpPr/>
          <p:nvPr/>
        </p:nvGrpSpPr>
        <p:grpSpPr>
          <a:xfrm>
            <a:off x="2279552" y="125786"/>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80A12543-5A09-E3C0-6F82-0B8065076D7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DD12FAA-EECC-9AB8-5A9F-72B936984F58}"/>
                </a:ext>
              </a:extLst>
            </p:cNvPr>
            <p:cNvSpPr txBox="1"/>
            <p:nvPr/>
          </p:nvSpPr>
          <p:spPr>
            <a:xfrm>
              <a:off x="2394530" y="273031"/>
              <a:ext cx="9687560" cy="523220"/>
            </a:xfrm>
            <a:prstGeom prst="rect">
              <a:avLst/>
            </a:prstGeom>
            <a:grpFill/>
          </p:spPr>
          <p:txBody>
            <a:bodyPr wrap="square" rtlCol="0">
              <a:spAutoFit/>
            </a:bodyPr>
            <a:lstStyle/>
            <a:p>
              <a:pPr>
                <a:defRPr sz="3000" b="1">
                  <a:solidFill>
                    <a:srgbClr val="F2F2F2"/>
                  </a:solidFill>
                  <a:latin typeface="Calibri"/>
                </a:defRPr>
              </a:pPr>
              <a:r>
                <a:rPr lang="en-IN" sz="2800" dirty="0">
                  <a:latin typeface="Times New Roman" panose="02020603050405020304" pitchFamily="18" charset="0"/>
                  <a:cs typeface="Times New Roman" panose="02020603050405020304" pitchFamily="18" charset="0"/>
                </a:rPr>
                <a:t>                                       System Architecture</a:t>
              </a:r>
            </a:p>
          </p:txBody>
        </p:sp>
      </p:grpSp>
      <p:sp>
        <p:nvSpPr>
          <p:cNvPr id="6" name="Text 0">
            <a:extLst>
              <a:ext uri="{FF2B5EF4-FFF2-40B4-BE49-F238E27FC236}">
                <a16:creationId xmlns:a16="http://schemas.microsoft.com/office/drawing/2014/main" id="{3F2CA04D-2FA9-53FE-7D48-BA0863F0807A}"/>
              </a:ext>
            </a:extLst>
          </p:cNvPr>
          <p:cNvSpPr/>
          <p:nvPr/>
        </p:nvSpPr>
        <p:spPr>
          <a:xfrm>
            <a:off x="721360" y="1733518"/>
            <a:ext cx="11206480" cy="4230402"/>
          </a:xfrm>
          <a:prstGeom prst="rect">
            <a:avLst/>
          </a:prstGeom>
          <a:noFill/>
          <a:ln/>
        </p:spPr>
        <p:txBody>
          <a:bodyPr wrap="none" lIns="0" tIns="0" rIns="0" bIns="0" rtlCol="0" anchor="t"/>
          <a:lstStyle/>
          <a:p>
            <a:endParaRPr lang="en-US" sz="24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DF138187-F98D-EA2F-1F98-5702A32CDD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08416" y="1053817"/>
            <a:ext cx="3123570" cy="4936052"/>
          </a:xfrm>
          <a:prstGeom prst="rect">
            <a:avLst/>
          </a:prstGeom>
        </p:spPr>
      </p:pic>
      <p:sp>
        <p:nvSpPr>
          <p:cNvPr id="12" name="TextBox 11">
            <a:extLst>
              <a:ext uri="{FF2B5EF4-FFF2-40B4-BE49-F238E27FC236}">
                <a16:creationId xmlns:a16="http://schemas.microsoft.com/office/drawing/2014/main" id="{6D14A6DC-7ADF-AA45-268E-02CE9DD4F280}"/>
              </a:ext>
            </a:extLst>
          </p:cNvPr>
          <p:cNvSpPr txBox="1"/>
          <p:nvPr/>
        </p:nvSpPr>
        <p:spPr>
          <a:xfrm>
            <a:off x="951261" y="1595536"/>
            <a:ext cx="6261301" cy="3693319"/>
          </a:xfrm>
          <a:prstGeom prst="rect">
            <a:avLst/>
          </a:prstGeom>
          <a:noFill/>
        </p:spPr>
        <p:txBody>
          <a:bodyPr wrap="square">
            <a:spAutoFit/>
          </a:bodyPr>
          <a:lstStyle/>
          <a:p>
            <a:pPr>
              <a:buNone/>
            </a:pPr>
            <a:r>
              <a:rPr lang="en-US" dirty="0">
                <a:latin typeface="Times New Roman" panose="02020603050405020304" pitchFamily="18" charset="0"/>
                <a:cs typeface="Times New Roman" panose="02020603050405020304" pitchFamily="18" charset="0"/>
              </a:rPr>
              <a:t>This system allows a user to upload an image through the frontend interface. </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The image is sent to a Flask backend API, which forwards it to a preprocessing module. </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After preprocessing, the image is passed into a Deepfake Detection Model (ResNet18 – </a:t>
            </a:r>
            <a:r>
              <a:rPr lang="en-US" dirty="0" err="1">
                <a:latin typeface="Times New Roman" panose="02020603050405020304" pitchFamily="18" charset="0"/>
                <a:cs typeface="Times New Roman" panose="02020603050405020304" pitchFamily="18" charset="0"/>
              </a:rPr>
              <a:t>PyTorch</a:t>
            </a:r>
            <a:r>
              <a:rPr lang="en-US" dirty="0">
                <a:latin typeface="Times New Roman" panose="02020603050405020304" pitchFamily="18" charset="0"/>
                <a:cs typeface="Times New Roman" panose="02020603050405020304" pitchFamily="18" charset="0"/>
              </a:rPr>
              <a:t>). </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The model predicts whether the image is real or fake. </a:t>
            </a:r>
          </a:p>
          <a:p>
            <a:pPr>
              <a:buNone/>
            </a:pPr>
            <a:endParaRPr lang="en-US" dirty="0">
              <a:latin typeface="Times New Roman" panose="02020603050405020304" pitchFamily="18" charset="0"/>
              <a:cs typeface="Times New Roman" panose="02020603050405020304" pitchFamily="18" charset="0"/>
            </a:endParaRPr>
          </a:p>
          <a:p>
            <a:pPr>
              <a:buNone/>
            </a:pPr>
            <a:r>
              <a:rPr lang="en-US" dirty="0">
                <a:latin typeface="Times New Roman" panose="02020603050405020304" pitchFamily="18" charset="0"/>
                <a:cs typeface="Times New Roman" panose="02020603050405020304" pitchFamily="18" charset="0"/>
              </a:rPr>
              <a:t>The backend then generates and sends the result back to the frontend, which displays the final output to the user</a:t>
            </a:r>
            <a:r>
              <a:rPr lang="en-US" dirty="0"/>
              <a:t>.</a:t>
            </a:r>
          </a:p>
        </p:txBody>
      </p:sp>
    </p:spTree>
    <p:extLst>
      <p:ext uri="{BB962C8B-B14F-4D97-AF65-F5344CB8AC3E}">
        <p14:creationId xmlns:p14="http://schemas.microsoft.com/office/powerpoint/2010/main" val="37248509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BFE1-ED6F-7EC2-192D-57DBA01A4226}"/>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81BD06ED-C8CF-5AFD-2A32-A20AD6546E96}"/>
              </a:ext>
            </a:extLst>
          </p:cNvPr>
          <p:cNvPicPr>
            <a:picLocks noChangeAspect="1"/>
          </p:cNvPicPr>
          <p:nvPr/>
        </p:nvPicPr>
        <p:blipFill>
          <a:blip r:embed="rId2"/>
          <a:stretch>
            <a:fillRect/>
          </a:stretch>
        </p:blipFill>
        <p:spPr>
          <a:xfrm>
            <a:off x="317643" y="144259"/>
            <a:ext cx="1719435" cy="677445"/>
          </a:xfrm>
          <a:prstGeom prst="rect">
            <a:avLst/>
          </a:prstGeom>
        </p:spPr>
      </p:pic>
      <p:sp>
        <p:nvSpPr>
          <p:cNvPr id="15" name="Slide Number Placeholder 14">
            <a:extLst>
              <a:ext uri="{FF2B5EF4-FFF2-40B4-BE49-F238E27FC236}">
                <a16:creationId xmlns:a16="http://schemas.microsoft.com/office/drawing/2014/main" id="{EB4EA2E9-3C2F-34CB-DAEC-7EC6599EE802}"/>
              </a:ext>
            </a:extLst>
          </p:cNvPr>
          <p:cNvSpPr>
            <a:spLocks noGrp="1"/>
          </p:cNvSpPr>
          <p:nvPr>
            <p:ph type="sldNum" sz="quarter" idx="12"/>
          </p:nvPr>
        </p:nvSpPr>
        <p:spPr/>
        <p:txBody>
          <a:bodyPr/>
          <a:lstStyle/>
          <a:p>
            <a:fld id="{6EFE7C99-B088-4EBB-BFF6-BECCC96D5DD8}" type="slidenum">
              <a:rPr lang="en-US" smtClean="0"/>
              <a:t>6</a:t>
            </a:fld>
            <a:endParaRPr lang="en-US"/>
          </a:p>
        </p:txBody>
      </p:sp>
      <p:sp>
        <p:nvSpPr>
          <p:cNvPr id="10" name="TextBox 9">
            <a:extLst>
              <a:ext uri="{FF2B5EF4-FFF2-40B4-BE49-F238E27FC236}">
                <a16:creationId xmlns:a16="http://schemas.microsoft.com/office/drawing/2014/main" id="{1DD8926E-E6CD-47A8-C686-609E93C942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F3D4284-B1D3-A5E2-A93F-973A5711AA19}"/>
              </a:ext>
            </a:extLst>
          </p:cNvPr>
          <p:cNvGrpSpPr/>
          <p:nvPr/>
        </p:nvGrpSpPr>
        <p:grpSpPr>
          <a:xfrm>
            <a:off x="2279552" y="125786"/>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80A12543-5A09-E3C0-6F82-0B8065076D7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DD12FAA-EECC-9AB8-5A9F-72B936984F58}"/>
                </a:ext>
              </a:extLst>
            </p:cNvPr>
            <p:cNvSpPr txBox="1"/>
            <p:nvPr/>
          </p:nvSpPr>
          <p:spPr>
            <a:xfrm>
              <a:off x="2394530" y="273031"/>
              <a:ext cx="9687560" cy="523220"/>
            </a:xfrm>
            <a:prstGeom prst="rect">
              <a:avLst/>
            </a:prstGeom>
            <a:grpFill/>
          </p:spPr>
          <p:txBody>
            <a:bodyPr wrap="square" rtlCol="0">
              <a:spAutoFit/>
            </a:bodyPr>
            <a:lstStyle/>
            <a:p>
              <a:pPr>
                <a:defRPr sz="3000" b="1">
                  <a:solidFill>
                    <a:srgbClr val="F2F2F2"/>
                  </a:solidFill>
                  <a:latin typeface="Calibri"/>
                </a:defRPr>
              </a:pPr>
              <a:r>
                <a:rPr lang="en-IN" sz="2800" dirty="0"/>
                <a:t>                                                </a:t>
              </a:r>
              <a:r>
                <a:rPr lang="en-IN" sz="2800" dirty="0">
                  <a:latin typeface="Times New Roman" panose="02020603050405020304" pitchFamily="18" charset="0"/>
                  <a:cs typeface="Times New Roman" panose="02020603050405020304" pitchFamily="18" charset="0"/>
                </a:rPr>
                <a:t>Work Flow</a:t>
              </a:r>
            </a:p>
          </p:txBody>
        </p:sp>
      </p:grpSp>
      <p:sp>
        <p:nvSpPr>
          <p:cNvPr id="6" name="Text 0">
            <a:extLst>
              <a:ext uri="{FF2B5EF4-FFF2-40B4-BE49-F238E27FC236}">
                <a16:creationId xmlns:a16="http://schemas.microsoft.com/office/drawing/2014/main" id="{3F2CA04D-2FA9-53FE-7D48-BA0863F0807A}"/>
              </a:ext>
            </a:extLst>
          </p:cNvPr>
          <p:cNvSpPr/>
          <p:nvPr/>
        </p:nvSpPr>
        <p:spPr>
          <a:xfrm>
            <a:off x="721360" y="1733518"/>
            <a:ext cx="11206480" cy="4230402"/>
          </a:xfrm>
          <a:prstGeom prst="rect">
            <a:avLst/>
          </a:prstGeom>
          <a:noFill/>
          <a:ln/>
        </p:spPr>
        <p:txBody>
          <a:bodyPr wrap="none" lIns="0" tIns="0" rIns="0" bIns="0" rtlCol="0" anchor="t"/>
          <a:lstStyle/>
          <a:p>
            <a:endParaRPr lang="en-US" sz="2400" dirty="0">
              <a:latin typeface="Times New Roman" panose="02020603050405020304" pitchFamily="18" charset="0"/>
              <a:cs typeface="Times New Roman" panose="02020603050405020304" pitchFamily="18" charset="0"/>
            </a:endParaRPr>
          </a:p>
        </p:txBody>
      </p:sp>
      <p:pic>
        <p:nvPicPr>
          <p:cNvPr id="1028" name="Picture 4">
            <a:extLst>
              <a:ext uri="{FF2B5EF4-FFF2-40B4-BE49-F238E27FC236}">
                <a16:creationId xmlns:a16="http://schemas.microsoft.com/office/drawing/2014/main" id="{4ACF8FDF-F9A8-6F1F-2F59-4163C61C5A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102" y="1203649"/>
            <a:ext cx="6027575" cy="5019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5074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BFE1-ED6F-7EC2-192D-57DBA01A4226}"/>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81BD06ED-C8CF-5AFD-2A32-A20AD6546E96}"/>
              </a:ext>
            </a:extLst>
          </p:cNvPr>
          <p:cNvPicPr>
            <a:picLocks noChangeAspect="1"/>
          </p:cNvPicPr>
          <p:nvPr/>
        </p:nvPicPr>
        <p:blipFill>
          <a:blip r:embed="rId2"/>
          <a:stretch>
            <a:fillRect/>
          </a:stretch>
        </p:blipFill>
        <p:spPr>
          <a:xfrm>
            <a:off x="317643" y="144259"/>
            <a:ext cx="1719435" cy="677445"/>
          </a:xfrm>
          <a:prstGeom prst="rect">
            <a:avLst/>
          </a:prstGeom>
        </p:spPr>
      </p:pic>
      <p:sp>
        <p:nvSpPr>
          <p:cNvPr id="15" name="Slide Number Placeholder 14">
            <a:extLst>
              <a:ext uri="{FF2B5EF4-FFF2-40B4-BE49-F238E27FC236}">
                <a16:creationId xmlns:a16="http://schemas.microsoft.com/office/drawing/2014/main" id="{EB4EA2E9-3C2F-34CB-DAEC-7EC6599EE802}"/>
              </a:ext>
            </a:extLst>
          </p:cNvPr>
          <p:cNvSpPr>
            <a:spLocks noGrp="1"/>
          </p:cNvSpPr>
          <p:nvPr>
            <p:ph type="sldNum" sz="quarter" idx="12"/>
          </p:nvPr>
        </p:nvSpPr>
        <p:spPr/>
        <p:txBody>
          <a:bodyPr/>
          <a:lstStyle/>
          <a:p>
            <a:fld id="{6EFE7C99-B088-4EBB-BFF6-BECCC96D5DD8}" type="slidenum">
              <a:rPr lang="en-US" smtClean="0"/>
              <a:t>7</a:t>
            </a:fld>
            <a:endParaRPr lang="en-US"/>
          </a:p>
        </p:txBody>
      </p:sp>
      <p:sp>
        <p:nvSpPr>
          <p:cNvPr id="10" name="TextBox 9">
            <a:extLst>
              <a:ext uri="{FF2B5EF4-FFF2-40B4-BE49-F238E27FC236}">
                <a16:creationId xmlns:a16="http://schemas.microsoft.com/office/drawing/2014/main" id="{1DD8926E-E6CD-47A8-C686-609E93C942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F3D4284-B1D3-A5E2-A93F-973A5711AA19}"/>
              </a:ext>
            </a:extLst>
          </p:cNvPr>
          <p:cNvGrpSpPr/>
          <p:nvPr/>
        </p:nvGrpSpPr>
        <p:grpSpPr>
          <a:xfrm>
            <a:off x="2279552" y="125786"/>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80A12543-5A09-E3C0-6F82-0B8065076D7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DD12FAA-EECC-9AB8-5A9F-72B936984F58}"/>
                </a:ext>
              </a:extLst>
            </p:cNvPr>
            <p:cNvSpPr txBox="1"/>
            <p:nvPr/>
          </p:nvSpPr>
          <p:spPr>
            <a:xfrm>
              <a:off x="2394530" y="273031"/>
              <a:ext cx="9687560" cy="523220"/>
            </a:xfrm>
            <a:prstGeom prst="rect">
              <a:avLst/>
            </a:prstGeom>
            <a:grpFill/>
          </p:spPr>
          <p:txBody>
            <a:bodyPr wrap="square" rtlCol="0">
              <a:spAutoFit/>
            </a:bodyPr>
            <a:lstStyle/>
            <a:p>
              <a:pPr algn="ctr"/>
              <a:r>
                <a:rPr lang="en-US" sz="2800" b="1" dirty="0">
                  <a:solidFill>
                    <a:schemeClr val="bg1"/>
                  </a:solidFill>
                  <a:latin typeface="Times New Roman" panose="02020603050405020304" pitchFamily="18" charset="0"/>
                  <a:cs typeface="Times New Roman" panose="02020603050405020304" pitchFamily="18" charset="0"/>
                </a:rPr>
                <a:t>Technology</a:t>
              </a:r>
            </a:p>
          </p:txBody>
        </p:sp>
      </p:grpSp>
      <p:sp>
        <p:nvSpPr>
          <p:cNvPr id="6" name="Text 0">
            <a:extLst>
              <a:ext uri="{FF2B5EF4-FFF2-40B4-BE49-F238E27FC236}">
                <a16:creationId xmlns:a16="http://schemas.microsoft.com/office/drawing/2014/main" id="{3F2CA04D-2FA9-53FE-7D48-BA0863F0807A}"/>
              </a:ext>
            </a:extLst>
          </p:cNvPr>
          <p:cNvSpPr/>
          <p:nvPr/>
        </p:nvSpPr>
        <p:spPr>
          <a:xfrm>
            <a:off x="721360" y="1733518"/>
            <a:ext cx="11206480" cy="4230402"/>
          </a:xfrm>
          <a:prstGeom prst="rect">
            <a:avLst/>
          </a:prstGeom>
          <a:noFill/>
          <a:ln/>
        </p:spPr>
        <p:txBody>
          <a:bodyPr wrap="none" lIns="0" tIns="0" rIns="0" bIns="0" rtlCol="0" anchor="t"/>
          <a:lstStyle/>
          <a:p>
            <a:endParaRPr lang="en-US"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4D361C9-9950-B55D-CC8C-3E242E455EF0}"/>
              </a:ext>
            </a:extLst>
          </p:cNvPr>
          <p:cNvSpPr txBox="1"/>
          <p:nvPr/>
        </p:nvSpPr>
        <p:spPr>
          <a:xfrm>
            <a:off x="615820" y="1099243"/>
            <a:ext cx="5907836" cy="4965462"/>
          </a:xfrm>
          <a:prstGeom prst="rect">
            <a:avLst/>
          </a:prstGeom>
          <a:noFill/>
        </p:spPr>
        <p:txBody>
          <a:bodyPr wrap="square">
            <a:spAutoFit/>
          </a:bodyPr>
          <a:lstStyle/>
          <a:p>
            <a:pPr algn="l">
              <a:buNone/>
            </a:pPr>
            <a:r>
              <a:rPr lang="en-US" b="1" i="0" dirty="0">
                <a:solidFill>
                  <a:srgbClr val="141413"/>
                </a:solidFill>
                <a:effectLst/>
                <a:latin typeface="Times New Roman" panose="02020603050405020304" pitchFamily="18" charset="0"/>
                <a:cs typeface="Times New Roman" panose="02020603050405020304" pitchFamily="18" charset="0"/>
              </a:rPr>
              <a:t>Programming &amp; Libraries:</a:t>
            </a:r>
            <a:endParaRPr lang="en-US" b="0" i="0" dirty="0">
              <a:solidFill>
                <a:srgbClr val="141413"/>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1" i="0" dirty="0">
                <a:solidFill>
                  <a:srgbClr val="141413"/>
                </a:solidFill>
                <a:effectLst/>
                <a:latin typeface="Times New Roman" panose="02020603050405020304" pitchFamily="18" charset="0"/>
                <a:cs typeface="Times New Roman" panose="02020603050405020304" pitchFamily="18" charset="0"/>
              </a:rPr>
              <a:t>Language:</a:t>
            </a:r>
            <a:r>
              <a:rPr lang="en-US" b="0" i="0" dirty="0">
                <a:solidFill>
                  <a:srgbClr val="141413"/>
                </a:solidFill>
                <a:effectLst/>
                <a:latin typeface="Times New Roman" panose="02020603050405020304" pitchFamily="18" charset="0"/>
                <a:cs typeface="Times New Roman" panose="02020603050405020304" pitchFamily="18" charset="0"/>
              </a:rPr>
              <a:t> Python 3.x</a:t>
            </a:r>
          </a:p>
          <a:p>
            <a:pPr>
              <a:spcBef>
                <a:spcPts val="750"/>
              </a:spcBef>
              <a:buFont typeface="Arial" panose="020B0604020202020204" pitchFamily="34" charset="0"/>
              <a:buChar char="•"/>
            </a:pPr>
            <a:r>
              <a:rPr lang="en-US" b="1" dirty="0">
                <a:solidFill>
                  <a:srgbClr val="141413"/>
                </a:solidFill>
                <a:latin typeface="Times New Roman" panose="02020603050405020304" pitchFamily="18" charset="0"/>
                <a:cs typeface="Times New Roman" panose="02020603050405020304" pitchFamily="18" charset="0"/>
              </a:rPr>
              <a:t>Deep Learning</a:t>
            </a:r>
            <a:r>
              <a:rPr lang="en-US" b="1" i="0" dirty="0">
                <a:solidFill>
                  <a:srgbClr val="141413"/>
                </a:solidFill>
                <a:effectLst/>
                <a:latin typeface="Times New Roman" panose="02020603050405020304" pitchFamily="18" charset="0"/>
                <a:cs typeface="Times New Roman" panose="02020603050405020304" pitchFamily="18" charset="0"/>
              </a:rPr>
              <a:t> Libraries:</a:t>
            </a:r>
            <a:r>
              <a:rPr lang="en-US" b="0" i="0" dirty="0">
                <a:solidFill>
                  <a:srgbClr val="141413"/>
                </a:solidFill>
                <a:effectLst/>
                <a:latin typeface="Times New Roman" panose="02020603050405020304" pitchFamily="18" charset="0"/>
                <a:cs typeface="Times New Roman" panose="02020603050405020304" pitchFamily="18" charset="0"/>
              </a:rPr>
              <a:t> </a:t>
            </a:r>
            <a:r>
              <a:rPr lang="en-IN" dirty="0"/>
              <a:t> </a:t>
            </a:r>
            <a:r>
              <a:rPr lang="en-IN" dirty="0" err="1">
                <a:latin typeface="Times New Roman" panose="02020603050405020304" pitchFamily="18" charset="0"/>
                <a:cs typeface="Times New Roman" panose="02020603050405020304" pitchFamily="18" charset="0"/>
              </a:rPr>
              <a:t>PyTorch</a:t>
            </a:r>
            <a:r>
              <a:rPr lang="en-IN" dirty="0">
                <a:latin typeface="Times New Roman" panose="02020603050405020304" pitchFamily="18" charset="0"/>
                <a:cs typeface="Times New Roman" panose="02020603050405020304" pitchFamily="18" charset="0"/>
              </a:rPr>
              <a:t> / TensorFlow (</a:t>
            </a:r>
            <a:r>
              <a:rPr lang="en-IN" dirty="0" err="1">
                <a:latin typeface="Times New Roman" panose="02020603050405020304" pitchFamily="18" charset="0"/>
                <a:cs typeface="Times New Roman" panose="02020603050405020304" pitchFamily="18" charset="0"/>
              </a:rPr>
              <a:t>Keras</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torchvision</a:t>
            </a:r>
            <a:endParaRPr lang="en-US" b="0" i="0" dirty="0">
              <a:solidFill>
                <a:srgbClr val="141413"/>
              </a:solidFill>
              <a:effectLst/>
              <a:latin typeface="Times New Roman" panose="02020603050405020304" pitchFamily="18" charset="0"/>
              <a:cs typeface="Times New Roman" panose="02020603050405020304" pitchFamily="18" charset="0"/>
            </a:endParaRPr>
          </a:p>
          <a:p>
            <a:pPr>
              <a:spcBef>
                <a:spcPts val="750"/>
              </a:spcBef>
              <a:buFont typeface="Arial" panose="020B0604020202020204" pitchFamily="34" charset="0"/>
              <a:buChar char="•"/>
            </a:pPr>
            <a:r>
              <a:rPr lang="en-US" b="1" i="0" dirty="0">
                <a:solidFill>
                  <a:srgbClr val="141413"/>
                </a:solidFill>
                <a:effectLst/>
                <a:latin typeface="Times New Roman" panose="02020603050405020304" pitchFamily="18" charset="0"/>
                <a:cs typeface="Times New Roman" panose="02020603050405020304" pitchFamily="18" charset="0"/>
              </a:rPr>
              <a:t>Data Processing:</a:t>
            </a:r>
            <a:r>
              <a:rPr lang="en-US" b="0" i="0" dirty="0">
                <a:solidFill>
                  <a:srgbClr val="141413"/>
                </a:solidFill>
                <a:effectLst/>
                <a:latin typeface="Times New Roman" panose="02020603050405020304" pitchFamily="18" charset="0"/>
                <a:cs typeface="Times New Roman" panose="02020603050405020304" pitchFamily="18" charset="0"/>
              </a:rPr>
              <a:t> </a:t>
            </a:r>
            <a:r>
              <a:rPr lang="en-IN" b="0" i="0" dirty="0">
                <a:solidFill>
                  <a:srgbClr val="141413"/>
                </a:solidFill>
                <a:effectLst/>
                <a:latin typeface="Times New Roman" panose="02020603050405020304" pitchFamily="18" charset="0"/>
                <a:cs typeface="Times New Roman" panose="02020603050405020304" pitchFamily="18" charset="0"/>
              </a:rPr>
              <a:t>OpenCV, </a:t>
            </a:r>
            <a:r>
              <a:rPr lang="en-IN" dirty="0"/>
              <a:t>NumPy </a:t>
            </a:r>
            <a:r>
              <a:rPr lang="en-US" b="0" i="0" dirty="0">
                <a:solidFill>
                  <a:srgbClr val="141413"/>
                </a:solidFill>
                <a:effectLst/>
                <a:latin typeface="Times New Roman" panose="02020603050405020304" pitchFamily="18" charset="0"/>
                <a:cs typeface="Times New Roman" panose="02020603050405020304" pitchFamily="18" charset="0"/>
              </a:rPr>
              <a:t>Pandas, NumPy</a:t>
            </a:r>
          </a:p>
          <a:p>
            <a:pPr algn="l">
              <a:spcBef>
                <a:spcPts val="750"/>
              </a:spcBef>
              <a:buFont typeface="Arial" panose="020B0604020202020204" pitchFamily="34" charset="0"/>
              <a:buChar char="•"/>
            </a:pPr>
            <a:r>
              <a:rPr lang="en-US" b="1" i="0" dirty="0">
                <a:solidFill>
                  <a:srgbClr val="141413"/>
                </a:solidFill>
                <a:effectLst/>
                <a:latin typeface="Times New Roman" panose="02020603050405020304" pitchFamily="18" charset="0"/>
                <a:cs typeface="Times New Roman" panose="02020603050405020304" pitchFamily="18" charset="0"/>
              </a:rPr>
              <a:t>Visualization:</a:t>
            </a:r>
            <a:r>
              <a:rPr lang="en-US" b="0" i="0" dirty="0">
                <a:solidFill>
                  <a:srgbClr val="141413"/>
                </a:solidFill>
                <a:effectLst/>
                <a:latin typeface="Times New Roman" panose="02020603050405020304" pitchFamily="18" charset="0"/>
                <a:cs typeface="Times New Roman" panose="02020603050405020304" pitchFamily="18" charset="0"/>
              </a:rPr>
              <a:t> Matplotlib, Seaborn</a:t>
            </a:r>
          </a:p>
          <a:p>
            <a:pPr algn="l">
              <a:spcBef>
                <a:spcPts val="750"/>
              </a:spcBef>
            </a:pPr>
            <a:endParaRPr lang="en-US" b="0" i="0" dirty="0">
              <a:solidFill>
                <a:srgbClr val="141413"/>
              </a:solidFill>
              <a:effectLst/>
              <a:latin typeface="Times New Roman" panose="02020603050405020304" pitchFamily="18" charset="0"/>
              <a:cs typeface="Times New Roman" panose="02020603050405020304" pitchFamily="18" charset="0"/>
            </a:endParaRPr>
          </a:p>
          <a:p>
            <a:pPr algn="l">
              <a:buNone/>
            </a:pPr>
            <a:r>
              <a:rPr lang="en-US" b="1" i="0" dirty="0">
                <a:solidFill>
                  <a:srgbClr val="141413"/>
                </a:solidFill>
                <a:effectLst/>
                <a:latin typeface="Times New Roman" panose="02020603050405020304" pitchFamily="18" charset="0"/>
                <a:cs typeface="Times New Roman" panose="02020603050405020304" pitchFamily="18" charset="0"/>
              </a:rPr>
              <a:t>Web Framework:</a:t>
            </a:r>
            <a:endParaRPr lang="en-US" b="0" i="0" dirty="0">
              <a:solidFill>
                <a:srgbClr val="141413"/>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b="0" i="0" dirty="0">
                <a:solidFill>
                  <a:srgbClr val="141413"/>
                </a:solidFill>
                <a:effectLst/>
                <a:latin typeface="Times New Roman" panose="02020603050405020304" pitchFamily="18" charset="0"/>
                <a:cs typeface="Times New Roman" panose="02020603050405020304" pitchFamily="18" charset="0"/>
              </a:rPr>
              <a:t>Flask </a:t>
            </a:r>
            <a:r>
              <a:rPr lang="en-IN" dirty="0">
                <a:latin typeface="Times New Roman" panose="02020603050405020304" pitchFamily="18" charset="0"/>
                <a:cs typeface="Times New Roman" panose="02020603050405020304" pitchFamily="18" charset="0"/>
              </a:rPr>
              <a:t>for backend model deployment</a:t>
            </a:r>
            <a:endParaRPr lang="en-US" b="0" i="0" dirty="0">
              <a:solidFill>
                <a:srgbClr val="141413"/>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a:solidFill>
                  <a:srgbClr val="141413"/>
                </a:solidFill>
                <a:effectLst/>
                <a:latin typeface="Times New Roman" panose="02020603050405020304" pitchFamily="18" charset="0"/>
                <a:cs typeface="Times New Roman" panose="02020603050405020304" pitchFamily="18" charset="0"/>
              </a:rPr>
              <a:t>HTML/CSS/JavaScript or React for frontend</a:t>
            </a:r>
          </a:p>
          <a:p>
            <a:pPr algn="l">
              <a:spcBef>
                <a:spcPts val="750"/>
              </a:spcBef>
              <a:buFont typeface="Arial" panose="020B0604020202020204" pitchFamily="34" charset="0"/>
              <a:buChar char="•"/>
            </a:pPr>
            <a:endParaRPr lang="en-US" b="0" i="0" dirty="0">
              <a:solidFill>
                <a:srgbClr val="141413"/>
              </a:solidFill>
              <a:effectLst/>
              <a:latin typeface="Times New Roman" panose="02020603050405020304" pitchFamily="18" charset="0"/>
              <a:cs typeface="Times New Roman" panose="02020603050405020304" pitchFamily="18" charset="0"/>
            </a:endParaRPr>
          </a:p>
          <a:p>
            <a:pPr algn="l">
              <a:buNone/>
            </a:pPr>
            <a:r>
              <a:rPr lang="en-US" b="1" i="0" dirty="0">
                <a:solidFill>
                  <a:srgbClr val="141413"/>
                </a:solidFill>
                <a:effectLst/>
                <a:latin typeface="Times New Roman" panose="02020603050405020304" pitchFamily="18" charset="0"/>
                <a:cs typeface="Times New Roman" panose="02020603050405020304" pitchFamily="18" charset="0"/>
              </a:rPr>
              <a:t>Development Environment:</a:t>
            </a:r>
            <a:endParaRPr lang="en-US" b="0" i="0" dirty="0">
              <a:solidFill>
                <a:srgbClr val="141413"/>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b="0" i="0" dirty="0" err="1">
                <a:solidFill>
                  <a:srgbClr val="141413"/>
                </a:solidFill>
                <a:effectLst/>
                <a:latin typeface="Times New Roman" panose="02020603050405020304" pitchFamily="18" charset="0"/>
                <a:cs typeface="Times New Roman" panose="02020603050405020304" pitchFamily="18" charset="0"/>
              </a:rPr>
              <a:t>Jupyter</a:t>
            </a:r>
            <a:r>
              <a:rPr lang="en-US" b="0" i="0" dirty="0">
                <a:solidFill>
                  <a:srgbClr val="141413"/>
                </a:solidFill>
                <a:effectLst/>
                <a:latin typeface="Times New Roman" panose="02020603050405020304" pitchFamily="18" charset="0"/>
                <a:cs typeface="Times New Roman" panose="02020603050405020304" pitchFamily="18" charset="0"/>
              </a:rPr>
              <a:t> Notebook for experimentation</a:t>
            </a:r>
          </a:p>
          <a:p>
            <a:pPr algn="l">
              <a:spcBef>
                <a:spcPts val="750"/>
              </a:spcBef>
              <a:buFont typeface="Arial" panose="020B0604020202020204" pitchFamily="34" charset="0"/>
              <a:buChar char="•"/>
            </a:pPr>
            <a:r>
              <a:rPr lang="en-US" b="0" i="0" dirty="0">
                <a:solidFill>
                  <a:srgbClr val="141413"/>
                </a:solidFill>
                <a:effectLst/>
                <a:latin typeface="Times New Roman" panose="02020603050405020304" pitchFamily="18" charset="0"/>
                <a:cs typeface="Times New Roman" panose="02020603050405020304" pitchFamily="18" charset="0"/>
              </a:rPr>
              <a:t>Visual Studio Code for development</a:t>
            </a:r>
          </a:p>
          <a:p>
            <a:pPr algn="l">
              <a:spcBef>
                <a:spcPts val="750"/>
              </a:spcBef>
              <a:buFont typeface="Arial" panose="020B0604020202020204" pitchFamily="34" charset="0"/>
              <a:buChar char="•"/>
            </a:pPr>
            <a:r>
              <a:rPr lang="en-US" b="0" i="0" dirty="0">
                <a:solidFill>
                  <a:srgbClr val="141413"/>
                </a:solidFill>
                <a:effectLst/>
                <a:latin typeface="Times New Roman" panose="02020603050405020304" pitchFamily="18" charset="0"/>
                <a:cs typeface="Times New Roman" panose="02020603050405020304" pitchFamily="18" charset="0"/>
              </a:rPr>
              <a:t>Google Colab for GPU acceleration</a:t>
            </a:r>
          </a:p>
        </p:txBody>
      </p:sp>
      <p:sp>
        <p:nvSpPr>
          <p:cNvPr id="12" name="TextBox 11">
            <a:extLst>
              <a:ext uri="{FF2B5EF4-FFF2-40B4-BE49-F238E27FC236}">
                <a16:creationId xmlns:a16="http://schemas.microsoft.com/office/drawing/2014/main" id="{3543495A-43D4-F4F0-199A-C2B3C6424BAD}"/>
              </a:ext>
            </a:extLst>
          </p:cNvPr>
          <p:cNvSpPr txBox="1"/>
          <p:nvPr/>
        </p:nvSpPr>
        <p:spPr>
          <a:xfrm>
            <a:off x="6523655" y="3066981"/>
            <a:ext cx="5404185" cy="3139321"/>
          </a:xfrm>
          <a:prstGeom prst="rect">
            <a:avLst/>
          </a:prstGeom>
          <a:noFill/>
        </p:spPr>
        <p:txBody>
          <a:bodyPr wrap="square">
            <a:spAutoFit/>
          </a:bodyPr>
          <a:lstStyle/>
          <a:p>
            <a:pPr algn="l">
              <a:buNone/>
            </a:pPr>
            <a:r>
              <a:rPr lang="en-US" b="1" i="0" dirty="0">
                <a:solidFill>
                  <a:srgbClr val="141413"/>
                </a:solidFill>
                <a:effectLst/>
                <a:latin typeface="Times New Roman" panose="02020603050405020304" pitchFamily="18" charset="0"/>
                <a:cs typeface="Times New Roman" panose="02020603050405020304" pitchFamily="18" charset="0"/>
              </a:rPr>
              <a:t>Dataset:</a:t>
            </a:r>
          </a:p>
          <a:p>
            <a:r>
              <a:rPr lang="en-US" b="1" i="0" dirty="0">
                <a:solidFill>
                  <a:srgbClr val="141413"/>
                </a:solidFill>
                <a:effectLst/>
                <a:latin typeface="Times New Roman" panose="02020603050405020304" pitchFamily="18" charset="0"/>
                <a:cs typeface="Times New Roman" panose="02020603050405020304" pitchFamily="18" charset="0"/>
              </a:rPr>
              <a:t>Source:</a:t>
            </a:r>
            <a:r>
              <a:rPr lang="en-US" b="0" i="0" dirty="0">
                <a:solidFill>
                  <a:srgbClr val="141413"/>
                </a:solidFill>
                <a:effectLst/>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FaceForensics</a:t>
            </a:r>
            <a:r>
              <a:rPr lang="en-IN" dirty="0">
                <a:latin typeface="Times New Roman" panose="02020603050405020304" pitchFamily="18" charset="0"/>
                <a:cs typeface="Times New Roman" panose="02020603050405020304" pitchFamily="18" charset="0"/>
              </a:rPr>
              <a:t>++ (FF++) Deepfake Dataset</a:t>
            </a:r>
          </a:p>
          <a:p>
            <a:r>
              <a:rPr lang="en-IN" b="1" dirty="0">
                <a:latin typeface="Times New Roman" panose="02020603050405020304" pitchFamily="18" charset="0"/>
                <a:cs typeface="Times New Roman" panose="02020603050405020304" pitchFamily="18" charset="0"/>
              </a:rPr>
              <a:t>Real Videos: </a:t>
            </a:r>
          </a:p>
          <a:p>
            <a:r>
              <a:rPr lang="en-IN" dirty="0">
                <a:latin typeface="Times New Roman" panose="02020603050405020304" pitchFamily="18" charset="0"/>
                <a:cs typeface="Times New Roman" panose="02020603050405020304" pitchFamily="18" charset="0"/>
              </a:rPr>
              <a:t>Authentic face videos used for baseline training</a:t>
            </a:r>
          </a:p>
          <a:p>
            <a:r>
              <a:rPr lang="en-IN" b="1" dirty="0">
                <a:latin typeface="Times New Roman" panose="02020603050405020304" pitchFamily="18" charset="0"/>
                <a:cs typeface="Times New Roman" panose="02020603050405020304" pitchFamily="18" charset="0"/>
              </a:rPr>
              <a:t>Fake Videos: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AI-generated manipulated videos created using multiple deepfake techniques</a:t>
            </a:r>
          </a:p>
          <a:p>
            <a:r>
              <a:rPr lang="en-IN" b="1" dirty="0">
                <a:latin typeface="Times New Roman" panose="02020603050405020304" pitchFamily="18" charset="0"/>
                <a:cs typeface="Times New Roman" panose="02020603050405020304" pitchFamily="18" charset="0"/>
              </a:rPr>
              <a:t>Extracted Frames: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Individual face frames collected after </a:t>
            </a:r>
            <a:r>
              <a:rPr lang="en-IN" dirty="0" err="1">
                <a:latin typeface="Times New Roman" panose="02020603050405020304" pitchFamily="18" charset="0"/>
                <a:cs typeface="Times New Roman" panose="02020603050405020304" pitchFamily="18" charset="0"/>
              </a:rPr>
              <a:t>Haarcascade</a:t>
            </a:r>
            <a:r>
              <a:rPr lang="en-IN" dirty="0">
                <a:latin typeface="Times New Roman" panose="02020603050405020304" pitchFamily="18" charset="0"/>
                <a:cs typeface="Times New Roman" panose="02020603050405020304" pitchFamily="18" charset="0"/>
              </a:rPr>
              <a:t> detection for training, validation, and testing</a:t>
            </a:r>
          </a:p>
          <a:p>
            <a:endParaRPr lang="en-IN" dirty="0"/>
          </a:p>
        </p:txBody>
      </p:sp>
    </p:spTree>
    <p:extLst>
      <p:ext uri="{BB962C8B-B14F-4D97-AF65-F5344CB8AC3E}">
        <p14:creationId xmlns:p14="http://schemas.microsoft.com/office/powerpoint/2010/main" val="3664088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BFE1-ED6F-7EC2-192D-57DBA01A4226}"/>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81BD06ED-C8CF-5AFD-2A32-A20AD6546E96}"/>
              </a:ext>
            </a:extLst>
          </p:cNvPr>
          <p:cNvPicPr>
            <a:picLocks noChangeAspect="1"/>
          </p:cNvPicPr>
          <p:nvPr/>
        </p:nvPicPr>
        <p:blipFill>
          <a:blip r:embed="rId2"/>
          <a:stretch>
            <a:fillRect/>
          </a:stretch>
        </p:blipFill>
        <p:spPr>
          <a:xfrm>
            <a:off x="317643" y="144259"/>
            <a:ext cx="1719435" cy="677445"/>
          </a:xfrm>
          <a:prstGeom prst="rect">
            <a:avLst/>
          </a:prstGeom>
        </p:spPr>
      </p:pic>
      <p:sp>
        <p:nvSpPr>
          <p:cNvPr id="15" name="Slide Number Placeholder 14">
            <a:extLst>
              <a:ext uri="{FF2B5EF4-FFF2-40B4-BE49-F238E27FC236}">
                <a16:creationId xmlns:a16="http://schemas.microsoft.com/office/drawing/2014/main" id="{EB4EA2E9-3C2F-34CB-DAEC-7EC6599EE802}"/>
              </a:ext>
            </a:extLst>
          </p:cNvPr>
          <p:cNvSpPr>
            <a:spLocks noGrp="1"/>
          </p:cNvSpPr>
          <p:nvPr>
            <p:ph type="sldNum" sz="quarter" idx="12"/>
          </p:nvPr>
        </p:nvSpPr>
        <p:spPr/>
        <p:txBody>
          <a:bodyPr/>
          <a:lstStyle/>
          <a:p>
            <a:fld id="{6EFE7C99-B088-4EBB-BFF6-BECCC96D5DD8}" type="slidenum">
              <a:rPr lang="en-US" smtClean="0"/>
              <a:t>8</a:t>
            </a:fld>
            <a:endParaRPr lang="en-US"/>
          </a:p>
        </p:txBody>
      </p:sp>
      <p:sp>
        <p:nvSpPr>
          <p:cNvPr id="10" name="TextBox 9">
            <a:extLst>
              <a:ext uri="{FF2B5EF4-FFF2-40B4-BE49-F238E27FC236}">
                <a16:creationId xmlns:a16="http://schemas.microsoft.com/office/drawing/2014/main" id="{1DD8926E-E6CD-47A8-C686-609E93C942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F3D4284-B1D3-A5E2-A93F-973A5711AA19}"/>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80A12543-5A09-E3C0-6F82-0B8065076D7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DD12FAA-EECC-9AB8-5A9F-72B936984F58}"/>
                </a:ext>
              </a:extLst>
            </p:cNvPr>
            <p:cNvSpPr txBox="1"/>
            <p:nvPr/>
          </p:nvSpPr>
          <p:spPr>
            <a:xfrm>
              <a:off x="2394530" y="273031"/>
              <a:ext cx="9687560" cy="523220"/>
            </a:xfrm>
            <a:prstGeom prst="rect">
              <a:avLst/>
            </a:prstGeom>
            <a:grpFill/>
          </p:spPr>
          <p:txBody>
            <a:bodyPr wrap="square" rtlCol="0">
              <a:spAutoFit/>
            </a:bodyPr>
            <a:lstStyle/>
            <a:p>
              <a:pPr algn="ctr"/>
              <a:r>
                <a:rPr lang="en-US" sz="2800" b="1" dirty="0">
                  <a:solidFill>
                    <a:schemeClr val="bg1"/>
                  </a:solidFill>
                  <a:latin typeface="Times New Roman" panose="02020603050405020304" pitchFamily="18" charset="0"/>
                  <a:cs typeface="Times New Roman" panose="02020603050405020304" pitchFamily="18" charset="0"/>
                </a:rPr>
                <a:t>Results &amp; Performance</a:t>
              </a:r>
            </a:p>
          </p:txBody>
        </p:sp>
      </p:grpSp>
      <p:pic>
        <p:nvPicPr>
          <p:cNvPr id="6" name="Picture 5">
            <a:extLst>
              <a:ext uri="{FF2B5EF4-FFF2-40B4-BE49-F238E27FC236}">
                <a16:creationId xmlns:a16="http://schemas.microsoft.com/office/drawing/2014/main" id="{5F4CC824-1DB4-591D-C0B4-970EA08B3A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0889" y="1497562"/>
            <a:ext cx="4245429" cy="3909527"/>
          </a:xfrm>
          <a:prstGeom prst="rect">
            <a:avLst/>
          </a:prstGeom>
        </p:spPr>
      </p:pic>
      <p:pic>
        <p:nvPicPr>
          <p:cNvPr id="12" name="Picture 11">
            <a:extLst>
              <a:ext uri="{FF2B5EF4-FFF2-40B4-BE49-F238E27FC236}">
                <a16:creationId xmlns:a16="http://schemas.microsoft.com/office/drawing/2014/main" id="{35684776-9776-A031-8781-5460D0F7FB4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7610" y="1474236"/>
            <a:ext cx="4245430" cy="3909527"/>
          </a:xfrm>
          <a:prstGeom prst="rect">
            <a:avLst/>
          </a:prstGeom>
        </p:spPr>
      </p:pic>
    </p:spTree>
    <p:extLst>
      <p:ext uri="{BB962C8B-B14F-4D97-AF65-F5344CB8AC3E}">
        <p14:creationId xmlns:p14="http://schemas.microsoft.com/office/powerpoint/2010/main" val="13539005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BFE1-ED6F-7EC2-192D-57DBA01A4226}"/>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81BD06ED-C8CF-5AFD-2A32-A20AD6546E96}"/>
              </a:ext>
            </a:extLst>
          </p:cNvPr>
          <p:cNvPicPr>
            <a:picLocks noChangeAspect="1"/>
          </p:cNvPicPr>
          <p:nvPr/>
        </p:nvPicPr>
        <p:blipFill>
          <a:blip r:embed="rId2"/>
          <a:stretch>
            <a:fillRect/>
          </a:stretch>
        </p:blipFill>
        <p:spPr>
          <a:xfrm>
            <a:off x="317643" y="144259"/>
            <a:ext cx="1719435" cy="677445"/>
          </a:xfrm>
          <a:prstGeom prst="rect">
            <a:avLst/>
          </a:prstGeom>
        </p:spPr>
      </p:pic>
      <p:sp>
        <p:nvSpPr>
          <p:cNvPr id="15" name="Slide Number Placeholder 14">
            <a:extLst>
              <a:ext uri="{FF2B5EF4-FFF2-40B4-BE49-F238E27FC236}">
                <a16:creationId xmlns:a16="http://schemas.microsoft.com/office/drawing/2014/main" id="{EB4EA2E9-3C2F-34CB-DAEC-7EC6599EE802}"/>
              </a:ext>
            </a:extLst>
          </p:cNvPr>
          <p:cNvSpPr>
            <a:spLocks noGrp="1"/>
          </p:cNvSpPr>
          <p:nvPr>
            <p:ph type="sldNum" sz="quarter" idx="12"/>
          </p:nvPr>
        </p:nvSpPr>
        <p:spPr/>
        <p:txBody>
          <a:bodyPr/>
          <a:lstStyle/>
          <a:p>
            <a:fld id="{6EFE7C99-B088-4EBB-BFF6-BECCC96D5DD8}" type="slidenum">
              <a:rPr lang="en-US" smtClean="0"/>
              <a:t>9</a:t>
            </a:fld>
            <a:endParaRPr lang="en-US"/>
          </a:p>
        </p:txBody>
      </p:sp>
      <p:sp>
        <p:nvSpPr>
          <p:cNvPr id="10" name="TextBox 9">
            <a:extLst>
              <a:ext uri="{FF2B5EF4-FFF2-40B4-BE49-F238E27FC236}">
                <a16:creationId xmlns:a16="http://schemas.microsoft.com/office/drawing/2014/main" id="{1DD8926E-E6CD-47A8-C686-609E93C942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F3D4284-B1D3-A5E2-A93F-973A5711AA19}"/>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80A12543-5A09-E3C0-6F82-0B8065076D7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DD12FAA-EECC-9AB8-5A9F-72B936984F58}"/>
                </a:ext>
              </a:extLst>
            </p:cNvPr>
            <p:cNvSpPr txBox="1"/>
            <p:nvPr/>
          </p:nvSpPr>
          <p:spPr>
            <a:xfrm>
              <a:off x="2394530" y="273031"/>
              <a:ext cx="9687560" cy="523220"/>
            </a:xfrm>
            <a:prstGeom prst="rect">
              <a:avLst/>
            </a:prstGeom>
            <a:grpFill/>
          </p:spPr>
          <p:txBody>
            <a:bodyPr wrap="square" rtlCol="0">
              <a:spAutoFit/>
            </a:bodyPr>
            <a:lstStyle/>
            <a:p>
              <a:pPr>
                <a:defRPr sz="3000" b="1">
                  <a:solidFill>
                    <a:srgbClr val="F2F2F2"/>
                  </a:solidFill>
                  <a:latin typeface="Calibri"/>
                </a:defRPr>
              </a:pPr>
              <a:r>
                <a:rPr lang="en-IN" sz="2800" dirty="0">
                  <a:latin typeface="Times New Roman" panose="02020603050405020304" pitchFamily="18" charset="0"/>
                  <a:cs typeface="Times New Roman" panose="02020603050405020304" pitchFamily="18" charset="0"/>
                </a:rPr>
                <a:t>                                       Results &amp; Performance</a:t>
              </a:r>
            </a:p>
          </p:txBody>
        </p:sp>
      </p:grpSp>
      <p:sp>
        <p:nvSpPr>
          <p:cNvPr id="6" name="TextBox 5">
            <a:extLst>
              <a:ext uri="{FF2B5EF4-FFF2-40B4-BE49-F238E27FC236}">
                <a16:creationId xmlns:a16="http://schemas.microsoft.com/office/drawing/2014/main" id="{9E75D441-9346-DF73-E1E6-99CB61F28B11}"/>
              </a:ext>
            </a:extLst>
          </p:cNvPr>
          <p:cNvSpPr txBox="1"/>
          <p:nvPr/>
        </p:nvSpPr>
        <p:spPr>
          <a:xfrm>
            <a:off x="727787" y="967108"/>
            <a:ext cx="4217438" cy="4139595"/>
          </a:xfrm>
          <a:prstGeom prst="rect">
            <a:avLst/>
          </a:prstGeom>
          <a:noFill/>
        </p:spPr>
        <p:txBody>
          <a:bodyPr wrap="square">
            <a:spAutoFit/>
          </a:bodyPr>
          <a:lstStyle/>
          <a:p>
            <a:pPr algn="l">
              <a:buNone/>
            </a:pPr>
            <a:r>
              <a:rPr lang="en-US" b="1" i="0" dirty="0">
                <a:solidFill>
                  <a:srgbClr val="141413"/>
                </a:solidFill>
                <a:effectLst/>
                <a:latin typeface="Times New Roman" panose="02020603050405020304" pitchFamily="18" charset="0"/>
                <a:cs typeface="Times New Roman" panose="02020603050405020304" pitchFamily="18" charset="0"/>
              </a:rPr>
              <a:t>System Interface &amp; Visualizations</a:t>
            </a:r>
          </a:p>
          <a:p>
            <a:pPr algn="l">
              <a:buNone/>
            </a:pPr>
            <a:endParaRPr lang="en-US" b="1" i="0" dirty="0">
              <a:solidFill>
                <a:srgbClr val="141413"/>
              </a:solidFill>
              <a:effectLst/>
              <a:latin typeface="Times New Roman" panose="02020603050405020304" pitchFamily="18" charset="0"/>
              <a:cs typeface="Times New Roman" panose="02020603050405020304" pitchFamily="18" charset="0"/>
            </a:endParaRPr>
          </a:p>
          <a:p>
            <a:pPr algn="l">
              <a:buNone/>
            </a:pPr>
            <a:r>
              <a:rPr lang="en-US" b="1" i="0" dirty="0">
                <a:solidFill>
                  <a:srgbClr val="141413"/>
                </a:solidFill>
                <a:effectLst/>
                <a:latin typeface="Times New Roman" panose="02020603050405020304" pitchFamily="18" charset="0"/>
                <a:cs typeface="Times New Roman" panose="02020603050405020304" pitchFamily="18" charset="0"/>
              </a:rPr>
              <a:t>Dashboard Features:</a:t>
            </a:r>
          </a:p>
          <a:p>
            <a:pPr algn="l">
              <a:buNone/>
            </a:pPr>
            <a:endParaRPr lang="en-US" b="1" i="0" dirty="0">
              <a:solidFill>
                <a:srgbClr val="141413"/>
              </a:solidFill>
              <a:effectLst/>
              <a:latin typeface="Times New Roman" panose="02020603050405020304" pitchFamily="18" charset="0"/>
              <a:cs typeface="Times New Roman" panose="02020603050405020304" pitchFamily="18" charset="0"/>
            </a:endParaRPr>
          </a:p>
          <a:p>
            <a:pPr algn="l">
              <a:buNone/>
            </a:pPr>
            <a:r>
              <a:rPr lang="en-US" b="1" i="0" dirty="0">
                <a:solidFill>
                  <a:srgbClr val="141413"/>
                </a:solidFill>
                <a:effectLst/>
                <a:latin typeface="Times New Roman" panose="02020603050405020304" pitchFamily="18" charset="0"/>
                <a:cs typeface="Times New Roman" panose="02020603050405020304" pitchFamily="18" charset="0"/>
              </a:rPr>
              <a:t>1. Main Dashboard</a:t>
            </a:r>
            <a:endParaRPr lang="en-US" b="0" i="0" dirty="0">
              <a:solidFill>
                <a:srgbClr val="141413"/>
              </a:solidFill>
              <a:effectLst/>
              <a:latin typeface="Times New Roman" panose="02020603050405020304" pitchFamily="18" charset="0"/>
              <a:cs typeface="Times New Roman" panose="02020603050405020304" pitchFamily="18" charset="0"/>
            </a:endParaRPr>
          </a:p>
          <a:p>
            <a:pPr>
              <a:lnSpc>
                <a:spcPct val="150000"/>
              </a:lnSpc>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Shows real vs fake results</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sample frames</a:t>
            </a:r>
          </a:p>
          <a:p>
            <a:pPr>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Summary of model performance</a:t>
            </a:r>
            <a:endParaRPr lang="en-US" b="0" i="0" dirty="0">
              <a:solidFill>
                <a:srgbClr val="141413"/>
              </a:solidFill>
              <a:effectLst/>
              <a:latin typeface="Times New Roman" panose="02020603050405020304" pitchFamily="18" charset="0"/>
              <a:cs typeface="Times New Roman" panose="02020603050405020304" pitchFamily="18" charset="0"/>
            </a:endParaRPr>
          </a:p>
          <a:p>
            <a:pPr algn="l">
              <a:spcBef>
                <a:spcPts val="750"/>
              </a:spcBef>
            </a:pPr>
            <a:endParaRPr lang="en-US" b="0" i="0" dirty="0">
              <a:solidFill>
                <a:srgbClr val="141413"/>
              </a:solidFill>
              <a:effectLst/>
              <a:latin typeface="Times New Roman" panose="02020603050405020304" pitchFamily="18" charset="0"/>
              <a:cs typeface="Times New Roman" panose="02020603050405020304" pitchFamily="18" charset="0"/>
            </a:endParaRPr>
          </a:p>
          <a:p>
            <a:r>
              <a:rPr lang="en-US" b="1" i="0" dirty="0">
                <a:solidFill>
                  <a:srgbClr val="141413"/>
                </a:solidFill>
                <a:effectLst/>
                <a:latin typeface="Times New Roman" panose="02020603050405020304" pitchFamily="18" charset="0"/>
                <a:cs typeface="Times New Roman" panose="02020603050405020304" pitchFamily="18" charset="0"/>
              </a:rPr>
              <a:t>2. </a:t>
            </a:r>
            <a:r>
              <a:rPr lang="en-IN" b="1" dirty="0">
                <a:latin typeface="Times New Roman" panose="02020603050405020304" pitchFamily="18" charset="0"/>
                <a:cs typeface="Times New Roman" panose="02020603050405020304" pitchFamily="18" charset="0"/>
              </a:rPr>
              <a:t>Detection Module</a:t>
            </a:r>
            <a:endParaRPr lang="en-US" b="1" i="0" dirty="0">
              <a:solidFill>
                <a:srgbClr val="141413"/>
              </a:solidFill>
              <a:effectLst/>
              <a:latin typeface="Times New Roman" panose="02020603050405020304" pitchFamily="18" charset="0"/>
              <a:cs typeface="Times New Roman" panose="02020603050405020304" pitchFamily="18" charset="0"/>
            </a:endParaRPr>
          </a:p>
          <a:p>
            <a:pPr>
              <a:spcBef>
                <a:spcPts val="75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Upload image/video</a:t>
            </a:r>
          </a:p>
          <a:p>
            <a:pPr>
              <a:spcBef>
                <a:spcPts val="75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Instant real/fake prediction</a:t>
            </a:r>
          </a:p>
        </p:txBody>
      </p:sp>
      <p:sp>
        <p:nvSpPr>
          <p:cNvPr id="12" name="TextBox 11">
            <a:extLst>
              <a:ext uri="{FF2B5EF4-FFF2-40B4-BE49-F238E27FC236}">
                <a16:creationId xmlns:a16="http://schemas.microsoft.com/office/drawing/2014/main" id="{78EC1876-4DE2-58E9-9DE6-7E1C49177633}"/>
              </a:ext>
            </a:extLst>
          </p:cNvPr>
          <p:cNvSpPr txBox="1"/>
          <p:nvPr/>
        </p:nvSpPr>
        <p:spPr>
          <a:xfrm>
            <a:off x="4289749" y="2087738"/>
            <a:ext cx="2745533" cy="3549690"/>
          </a:xfrm>
          <a:prstGeom prst="rect">
            <a:avLst/>
          </a:prstGeom>
          <a:noFill/>
        </p:spPr>
        <p:txBody>
          <a:bodyPr wrap="square">
            <a:spAutoFit/>
          </a:bodyPr>
          <a:lstStyle/>
          <a:p>
            <a:pPr algn="l">
              <a:buNone/>
            </a:pPr>
            <a:r>
              <a:rPr lang="en-US" b="1" i="0" dirty="0">
                <a:solidFill>
                  <a:srgbClr val="141413"/>
                </a:solidFill>
                <a:effectLst/>
                <a:latin typeface="Times New Roman" panose="02020603050405020304" pitchFamily="18" charset="0"/>
                <a:cs typeface="Times New Roman" panose="02020603050405020304" pitchFamily="18" charset="0"/>
              </a:rPr>
              <a:t>3. Analysis Section</a:t>
            </a:r>
            <a:endParaRPr lang="en-US" b="0" i="0" dirty="0">
              <a:solidFill>
                <a:srgbClr val="141413"/>
              </a:solidFill>
              <a:effectLst/>
              <a:latin typeface="Times New Roman" panose="02020603050405020304" pitchFamily="18" charset="0"/>
              <a:cs typeface="Times New Roman" panose="02020603050405020304" pitchFamily="18" charset="0"/>
            </a:endParaRPr>
          </a:p>
          <a:p>
            <a:pPr>
              <a:spcBef>
                <a:spcPts val="75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Displays detected frames</a:t>
            </a:r>
          </a:p>
          <a:p>
            <a:pPr>
              <a:spcBef>
                <a:spcPts val="750"/>
              </a:spcBef>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Confusion matrix &amp; performance metrics</a:t>
            </a:r>
          </a:p>
          <a:p>
            <a:pPr>
              <a:spcBef>
                <a:spcPts val="750"/>
              </a:spcBef>
            </a:pPr>
            <a:endParaRPr lang="en-US" b="0" i="0" dirty="0">
              <a:solidFill>
                <a:srgbClr val="141413"/>
              </a:solidFill>
              <a:effectLst/>
              <a:latin typeface="Times New Roman" panose="02020603050405020304" pitchFamily="18" charset="0"/>
              <a:cs typeface="Times New Roman" panose="02020603050405020304" pitchFamily="18" charset="0"/>
            </a:endParaRPr>
          </a:p>
          <a:p>
            <a:pPr algn="l">
              <a:spcBef>
                <a:spcPts val="750"/>
              </a:spcBef>
            </a:pPr>
            <a:endParaRPr lang="en-US" b="0" i="0" dirty="0">
              <a:solidFill>
                <a:srgbClr val="141413"/>
              </a:solidFill>
              <a:effectLst/>
              <a:latin typeface="Times New Roman" panose="02020603050405020304" pitchFamily="18" charset="0"/>
              <a:cs typeface="Times New Roman" panose="02020603050405020304" pitchFamily="18" charset="0"/>
            </a:endParaRPr>
          </a:p>
          <a:p>
            <a:pPr algn="l">
              <a:buNone/>
            </a:pPr>
            <a:r>
              <a:rPr lang="en-US" b="1" i="0" dirty="0">
                <a:solidFill>
                  <a:srgbClr val="141413"/>
                </a:solidFill>
                <a:effectLst/>
                <a:latin typeface="Times New Roman" panose="02020603050405020304" pitchFamily="18" charset="0"/>
                <a:cs typeface="Times New Roman" panose="02020603050405020304" pitchFamily="18" charset="0"/>
              </a:rPr>
              <a:t>4. Report Generation</a:t>
            </a:r>
            <a:endParaRPr lang="en-US" b="0" i="0" dirty="0">
              <a:solidFill>
                <a:srgbClr val="141413"/>
              </a:solidFill>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Downloadable prediction reports</a:t>
            </a:r>
          </a:p>
          <a:p>
            <a:pPr>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View previous detection history</a:t>
            </a:r>
            <a:endParaRPr lang="en-US" b="0" i="0" dirty="0">
              <a:solidFill>
                <a:srgbClr val="141413"/>
              </a:solidFill>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96A0E25A-B473-B963-39F6-86375535FF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8310" y="1828799"/>
            <a:ext cx="4033070" cy="2995127"/>
          </a:xfrm>
          <a:prstGeom prst="rect">
            <a:avLst/>
          </a:prstGeom>
        </p:spPr>
      </p:pic>
    </p:spTree>
    <p:extLst>
      <p:ext uri="{BB962C8B-B14F-4D97-AF65-F5344CB8AC3E}">
        <p14:creationId xmlns:p14="http://schemas.microsoft.com/office/powerpoint/2010/main" val="2051204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BFE1-ED6F-7EC2-192D-57DBA01A4226}"/>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81BD06ED-C8CF-5AFD-2A32-A20AD6546E96}"/>
              </a:ext>
            </a:extLst>
          </p:cNvPr>
          <p:cNvPicPr>
            <a:picLocks noChangeAspect="1"/>
          </p:cNvPicPr>
          <p:nvPr/>
        </p:nvPicPr>
        <p:blipFill>
          <a:blip r:embed="rId2"/>
          <a:stretch>
            <a:fillRect/>
          </a:stretch>
        </p:blipFill>
        <p:spPr>
          <a:xfrm>
            <a:off x="317643" y="144259"/>
            <a:ext cx="1719435" cy="677445"/>
          </a:xfrm>
          <a:prstGeom prst="rect">
            <a:avLst/>
          </a:prstGeom>
        </p:spPr>
      </p:pic>
      <p:sp>
        <p:nvSpPr>
          <p:cNvPr id="15" name="Slide Number Placeholder 14">
            <a:extLst>
              <a:ext uri="{FF2B5EF4-FFF2-40B4-BE49-F238E27FC236}">
                <a16:creationId xmlns:a16="http://schemas.microsoft.com/office/drawing/2014/main" id="{EB4EA2E9-3C2F-34CB-DAEC-7EC6599EE802}"/>
              </a:ext>
            </a:extLst>
          </p:cNvPr>
          <p:cNvSpPr>
            <a:spLocks noGrp="1"/>
          </p:cNvSpPr>
          <p:nvPr>
            <p:ph type="sldNum" sz="quarter" idx="12"/>
          </p:nvPr>
        </p:nvSpPr>
        <p:spPr/>
        <p:txBody>
          <a:bodyPr/>
          <a:lstStyle/>
          <a:p>
            <a:fld id="{6EFE7C99-B088-4EBB-BFF6-BECCC96D5DD8}" type="slidenum">
              <a:rPr lang="en-US" smtClean="0"/>
              <a:t>10</a:t>
            </a:fld>
            <a:endParaRPr lang="en-US"/>
          </a:p>
        </p:txBody>
      </p:sp>
      <p:sp>
        <p:nvSpPr>
          <p:cNvPr id="10" name="TextBox 9">
            <a:extLst>
              <a:ext uri="{FF2B5EF4-FFF2-40B4-BE49-F238E27FC236}">
                <a16:creationId xmlns:a16="http://schemas.microsoft.com/office/drawing/2014/main" id="{1DD8926E-E6CD-47A8-C686-609E93C942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F3D4284-B1D3-A5E2-A93F-973A5711AA19}"/>
              </a:ext>
            </a:extLst>
          </p:cNvPr>
          <p:cNvGrpSpPr/>
          <p:nvPr/>
        </p:nvGrpSpPr>
        <p:grpSpPr>
          <a:xfrm>
            <a:off x="2279552" y="125786"/>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80A12543-5A09-E3C0-6F82-0B8065076D7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DD12FAA-EECC-9AB8-5A9F-72B936984F58}"/>
                </a:ext>
              </a:extLst>
            </p:cNvPr>
            <p:cNvSpPr txBox="1"/>
            <p:nvPr/>
          </p:nvSpPr>
          <p:spPr>
            <a:xfrm>
              <a:off x="2394530" y="273031"/>
              <a:ext cx="9687560" cy="523220"/>
            </a:xfrm>
            <a:prstGeom prst="rect">
              <a:avLst/>
            </a:prstGeom>
            <a:grpFill/>
          </p:spPr>
          <p:txBody>
            <a:bodyPr wrap="square" rtlCol="0">
              <a:spAutoFit/>
            </a:bodyPr>
            <a:lstStyle/>
            <a:p>
              <a:pPr algn="ctr"/>
              <a:r>
                <a:rPr lang="en-US" sz="2800" b="1" dirty="0">
                  <a:solidFill>
                    <a:schemeClr val="bg1"/>
                  </a:solidFill>
                  <a:latin typeface="Times New Roman" panose="02020603050405020304" pitchFamily="18" charset="0"/>
                  <a:cs typeface="Times New Roman" panose="02020603050405020304" pitchFamily="18" charset="0"/>
                </a:rPr>
                <a:t>Conclusion</a:t>
              </a:r>
            </a:p>
          </p:txBody>
        </p:sp>
      </p:grpSp>
      <p:sp>
        <p:nvSpPr>
          <p:cNvPr id="6" name="Text 0">
            <a:extLst>
              <a:ext uri="{FF2B5EF4-FFF2-40B4-BE49-F238E27FC236}">
                <a16:creationId xmlns:a16="http://schemas.microsoft.com/office/drawing/2014/main" id="{3F2CA04D-2FA9-53FE-7D48-BA0863F0807A}"/>
              </a:ext>
            </a:extLst>
          </p:cNvPr>
          <p:cNvSpPr/>
          <p:nvPr/>
        </p:nvSpPr>
        <p:spPr>
          <a:xfrm>
            <a:off x="721360" y="1733518"/>
            <a:ext cx="11206480" cy="4230402"/>
          </a:xfrm>
          <a:prstGeom prst="rect">
            <a:avLst/>
          </a:prstGeom>
          <a:noFill/>
          <a:ln/>
        </p:spPr>
        <p:txBody>
          <a:bodyPr wrap="none" lIns="0" tIns="0" rIns="0" bIns="0" rtlCol="0" anchor="t"/>
          <a:lstStyle/>
          <a:p>
            <a:endParaRPr lang="en-US" sz="2400"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CC656E4F-D380-F308-C9E9-441572277719}"/>
              </a:ext>
            </a:extLst>
          </p:cNvPr>
          <p:cNvSpPr txBox="1"/>
          <p:nvPr/>
        </p:nvSpPr>
        <p:spPr>
          <a:xfrm>
            <a:off x="838200" y="1166842"/>
            <a:ext cx="10632440" cy="5355312"/>
          </a:xfrm>
          <a:prstGeom prst="rect">
            <a:avLst/>
          </a:prstGeom>
          <a:noFill/>
        </p:spPr>
        <p:txBody>
          <a:bodyPr wrap="square">
            <a:spAutoFit/>
          </a:bodyPr>
          <a:lstStyle/>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project successfully implemented and evaluated a deep learning–based system for </a:t>
            </a:r>
            <a:r>
              <a:rPr lang="en-US" b="1" dirty="0">
                <a:latin typeface="Times New Roman" panose="02020603050405020304" pitchFamily="18" charset="0"/>
                <a:cs typeface="Times New Roman" panose="02020603050405020304" pitchFamily="18" charset="0"/>
              </a:rPr>
              <a:t>deepfake image detection</a:t>
            </a:r>
            <a:r>
              <a:rPr lang="en-US" dirty="0">
                <a:latin typeface="Times New Roman" panose="02020603050405020304" pitchFamily="18" charset="0"/>
                <a:cs typeface="Times New Roman" panose="02020603050405020304" pitchFamily="18" charset="0"/>
              </a:rPr>
              <a:t>.</a:t>
            </a:r>
          </a:p>
          <a:p>
            <a:endParaRPr lang="en-US" b="0" i="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Among all tested approaches, the </a:t>
            </a:r>
            <a:r>
              <a:rPr lang="en-US" b="1" dirty="0">
                <a:latin typeface="Times New Roman" panose="02020603050405020304" pitchFamily="18" charset="0"/>
                <a:cs typeface="Times New Roman" panose="02020603050405020304" pitchFamily="18" charset="0"/>
              </a:rPr>
              <a:t>ResNet18 transfer learning model</a:t>
            </a:r>
            <a:r>
              <a:rPr lang="en-US" dirty="0">
                <a:latin typeface="Times New Roman" panose="02020603050405020304" pitchFamily="18" charset="0"/>
                <a:cs typeface="Times New Roman" panose="02020603050405020304" pitchFamily="18" charset="0"/>
              </a:rPr>
              <a:t> achieved the </a:t>
            </a:r>
            <a:r>
              <a:rPr lang="en-US" b="1" dirty="0">
                <a:latin typeface="Times New Roman" panose="02020603050405020304" pitchFamily="18" charset="0"/>
                <a:cs typeface="Times New Roman" panose="02020603050405020304" pitchFamily="18" charset="0"/>
              </a:rPr>
              <a:t>best performance</a:t>
            </a:r>
            <a:r>
              <a:rPr lang="en-US" dirty="0">
                <a:latin typeface="Times New Roman" panose="02020603050405020304" pitchFamily="18" charset="0"/>
                <a:cs typeface="Times New Roman" panose="02020603050405020304" pitchFamily="18" charset="0"/>
              </a:rPr>
              <a:t>, delivering high accuracy and strong generalization in identifying manipulated facial content.</a:t>
            </a:r>
          </a:p>
          <a:p>
            <a:endParaRPr lang="en-US" b="0" i="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results clearly demonstrate that </a:t>
            </a:r>
            <a:r>
              <a:rPr lang="en-US" b="1" dirty="0">
                <a:latin typeface="Times New Roman" panose="02020603050405020304" pitchFamily="18" charset="0"/>
                <a:cs typeface="Times New Roman" panose="02020603050405020304" pitchFamily="18" charset="0"/>
              </a:rPr>
              <a:t>deep learning models</a:t>
            </a:r>
            <a:r>
              <a:rPr lang="en-US" dirty="0">
                <a:latin typeface="Times New Roman" panose="02020603050405020304" pitchFamily="18" charset="0"/>
                <a:cs typeface="Times New Roman" panose="02020603050405020304" pitchFamily="18" charset="0"/>
              </a:rPr>
              <a:t> are highly effective in detecting subtle visual artifacts and inconsistencies found in deepfake media, outperforming traditional manual or rule-based methods.</a:t>
            </a:r>
          </a:p>
          <a:p>
            <a:endParaRPr lang="en-US"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system provides </a:t>
            </a:r>
            <a:r>
              <a:rPr lang="en-US" b="1" dirty="0">
                <a:latin typeface="Times New Roman" panose="02020603050405020304" pitchFamily="18" charset="0"/>
                <a:cs typeface="Times New Roman" panose="02020603050405020304" pitchFamily="18" charset="0"/>
              </a:rPr>
              <a:t>accurate, reliable, and interpretable results</a:t>
            </a:r>
            <a:r>
              <a:rPr lang="en-US" dirty="0">
                <a:latin typeface="Times New Roman" panose="02020603050405020304" pitchFamily="18" charset="0"/>
                <a:cs typeface="Times New Roman" panose="02020603050405020304" pitchFamily="18" charset="0"/>
              </a:rPr>
              <a:t>, enabling users and organizations to make </a:t>
            </a:r>
            <a:r>
              <a:rPr lang="en-US" b="1" dirty="0">
                <a:latin typeface="Times New Roman" panose="02020603050405020304" pitchFamily="18" charset="0"/>
                <a:cs typeface="Times New Roman" panose="02020603050405020304" pitchFamily="18" charset="0"/>
              </a:rPr>
              <a:t>informed decisions</a:t>
            </a:r>
            <a:r>
              <a:rPr lang="en-US" dirty="0">
                <a:latin typeface="Times New Roman" panose="02020603050405020304" pitchFamily="18" charset="0"/>
                <a:cs typeface="Times New Roman" panose="02020603050405020304" pitchFamily="18" charset="0"/>
              </a:rPr>
              <a:t> when analyzing suspicious images or videos.</a:t>
            </a:r>
          </a:p>
          <a:p>
            <a:endParaRPr lang="en-US" b="0" i="0" dirty="0">
              <a:effectLst/>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This work highlights the power of </a:t>
            </a:r>
            <a:r>
              <a:rPr lang="en-US" b="1" dirty="0">
                <a:latin typeface="Times New Roman" panose="02020603050405020304" pitchFamily="18" charset="0"/>
                <a:cs typeface="Times New Roman" panose="02020603050405020304" pitchFamily="18" charset="0"/>
              </a:rPr>
              <a:t>AI in safeguarding digital authenticity</a:t>
            </a:r>
            <a:r>
              <a:rPr lang="en-US" dirty="0">
                <a:latin typeface="Times New Roman" panose="02020603050405020304" pitchFamily="18" charset="0"/>
                <a:cs typeface="Times New Roman" panose="02020603050405020304" pitchFamily="18" charset="0"/>
              </a:rPr>
              <a:t>, helping to </a:t>
            </a:r>
            <a:r>
              <a:rPr lang="en-US" b="1" dirty="0">
                <a:latin typeface="Times New Roman" panose="02020603050405020304" pitchFamily="18" charset="0"/>
                <a:cs typeface="Times New Roman" panose="02020603050405020304" pitchFamily="18" charset="0"/>
              </a:rPr>
              <a:t>detect fake media</a:t>
            </a:r>
            <a:r>
              <a:rPr lang="en-US" dirty="0">
                <a:latin typeface="Times New Roman" panose="02020603050405020304" pitchFamily="18" charset="0"/>
                <a:cs typeface="Times New Roman" panose="02020603050405020304" pitchFamily="18" charset="0"/>
              </a:rPr>
              <a:t>, reduce misinformation, and protect user privacy.</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With future enhancements such as </a:t>
            </a:r>
            <a:r>
              <a:rPr lang="en-US" b="1" dirty="0">
                <a:latin typeface="Times New Roman" panose="02020603050405020304" pitchFamily="18" charset="0"/>
                <a:cs typeface="Times New Roman" panose="02020603050405020304" pitchFamily="18" charset="0"/>
              </a:rPr>
              <a:t>real-time video stream detection</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LSTM-based temporal analysis</a:t>
            </a:r>
            <a:r>
              <a:rPr lang="en-US" dirty="0">
                <a:latin typeface="Times New Roman" panose="02020603050405020304" pitchFamily="18" charset="0"/>
                <a:cs typeface="Times New Roman" panose="02020603050405020304" pitchFamily="18" charset="0"/>
              </a:rPr>
              <a:t>, and </a:t>
            </a:r>
            <a:r>
              <a:rPr lang="en-US" b="1" dirty="0">
                <a:latin typeface="Times New Roman" panose="02020603050405020304" pitchFamily="18" charset="0"/>
                <a:cs typeface="Times New Roman" panose="02020603050405020304" pitchFamily="18" charset="0"/>
              </a:rPr>
              <a:t>support for newly emerging deepfake techniques</a:t>
            </a:r>
            <a:r>
              <a:rPr lang="en-US" dirty="0">
                <a:latin typeface="Times New Roman" panose="02020603050405020304" pitchFamily="18" charset="0"/>
                <a:cs typeface="Times New Roman" panose="02020603050405020304" pitchFamily="18" charset="0"/>
              </a:rPr>
              <a:t>, the system can evolve into a </a:t>
            </a:r>
            <a:r>
              <a:rPr lang="en-US" b="1" dirty="0">
                <a:latin typeface="Times New Roman" panose="02020603050405020304" pitchFamily="18" charset="0"/>
                <a:cs typeface="Times New Roman" panose="02020603050405020304" pitchFamily="18" charset="0"/>
              </a:rPr>
              <a:t>comprehensive and intelligent deepfake detection platform</a:t>
            </a:r>
            <a:r>
              <a:rPr lang="en-US" dirty="0">
                <a:latin typeface="Times New Roman" panose="02020603050405020304" pitchFamily="18" charset="0"/>
                <a:cs typeface="Times New Roman" panose="02020603050405020304" pitchFamily="18" charset="0"/>
              </a:rPr>
              <a:t>.</a:t>
            </a:r>
          </a:p>
          <a:p>
            <a:pPr algn="l"/>
            <a:endParaRPr lang="en-US"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2017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DBFE1-ED6F-7EC2-192D-57DBA01A4226}"/>
            </a:ext>
          </a:extLst>
        </p:cNvPr>
        <p:cNvGrpSpPr/>
        <p:nvPr/>
      </p:nvGrpSpPr>
      <p:grpSpPr>
        <a:xfrm>
          <a:off x="0" y="0"/>
          <a:ext cx="0" cy="0"/>
          <a:chOff x="0" y="0"/>
          <a:chExt cx="0" cy="0"/>
        </a:xfrm>
      </p:grpSpPr>
      <p:pic>
        <p:nvPicPr>
          <p:cNvPr id="3" name="Picture 2" descr="WhatsApp Image 2024-08-23 at 15.43.17">
            <a:extLst>
              <a:ext uri="{FF2B5EF4-FFF2-40B4-BE49-F238E27FC236}">
                <a16:creationId xmlns:a16="http://schemas.microsoft.com/office/drawing/2014/main" id="{81BD06ED-C8CF-5AFD-2A32-A20AD6546E96}"/>
              </a:ext>
            </a:extLst>
          </p:cNvPr>
          <p:cNvPicPr>
            <a:picLocks noChangeAspect="1"/>
          </p:cNvPicPr>
          <p:nvPr/>
        </p:nvPicPr>
        <p:blipFill>
          <a:blip r:embed="rId2"/>
          <a:stretch>
            <a:fillRect/>
          </a:stretch>
        </p:blipFill>
        <p:spPr>
          <a:xfrm>
            <a:off x="317643" y="144259"/>
            <a:ext cx="1719435" cy="677445"/>
          </a:xfrm>
          <a:prstGeom prst="rect">
            <a:avLst/>
          </a:prstGeom>
        </p:spPr>
      </p:pic>
      <p:sp>
        <p:nvSpPr>
          <p:cNvPr id="15" name="Slide Number Placeholder 14">
            <a:extLst>
              <a:ext uri="{FF2B5EF4-FFF2-40B4-BE49-F238E27FC236}">
                <a16:creationId xmlns:a16="http://schemas.microsoft.com/office/drawing/2014/main" id="{EB4EA2E9-3C2F-34CB-DAEC-7EC6599EE802}"/>
              </a:ext>
            </a:extLst>
          </p:cNvPr>
          <p:cNvSpPr>
            <a:spLocks noGrp="1"/>
          </p:cNvSpPr>
          <p:nvPr>
            <p:ph type="sldNum" sz="quarter" idx="12"/>
          </p:nvPr>
        </p:nvSpPr>
        <p:spPr/>
        <p:txBody>
          <a:bodyPr/>
          <a:lstStyle/>
          <a:p>
            <a:fld id="{6EFE7C99-B088-4EBB-BFF6-BECCC96D5DD8}" type="slidenum">
              <a:rPr lang="en-US" smtClean="0"/>
              <a:t>11</a:t>
            </a:fld>
            <a:endParaRPr lang="en-US"/>
          </a:p>
        </p:txBody>
      </p:sp>
      <p:sp>
        <p:nvSpPr>
          <p:cNvPr id="10" name="TextBox 9">
            <a:extLst>
              <a:ext uri="{FF2B5EF4-FFF2-40B4-BE49-F238E27FC236}">
                <a16:creationId xmlns:a16="http://schemas.microsoft.com/office/drawing/2014/main" id="{1DD8926E-E6CD-47A8-C686-609E93C942F2}"/>
              </a:ext>
            </a:extLst>
          </p:cNvPr>
          <p:cNvSpPr txBox="1"/>
          <p:nvPr/>
        </p:nvSpPr>
        <p:spPr>
          <a:xfrm>
            <a:off x="2337283" y="199722"/>
            <a:ext cx="9687560" cy="461665"/>
          </a:xfrm>
          <a:prstGeom prst="rect">
            <a:avLst/>
          </a:prstGeom>
          <a:noFill/>
        </p:spPr>
        <p:txBody>
          <a:bodyPr wrap="square" rtlCol="0">
            <a:spAutoFit/>
          </a:bodyPr>
          <a:lstStyle/>
          <a:p>
            <a:pPr algn="ctr"/>
            <a:r>
              <a:rPr lang="en-US" sz="2400" b="1" dirty="0">
                <a:solidFill>
                  <a:schemeClr val="bg1"/>
                </a:solidFill>
              </a:rPr>
              <a:t>Slide Title</a:t>
            </a:r>
            <a:endParaRPr lang="en-US" sz="2400" dirty="0"/>
          </a:p>
        </p:txBody>
      </p:sp>
      <p:grpSp>
        <p:nvGrpSpPr>
          <p:cNvPr id="2" name="Group 1">
            <a:extLst>
              <a:ext uri="{FF2B5EF4-FFF2-40B4-BE49-F238E27FC236}">
                <a16:creationId xmlns:a16="http://schemas.microsoft.com/office/drawing/2014/main" id="{EF3D4284-B1D3-A5E2-A93F-973A5711AA19}"/>
              </a:ext>
            </a:extLst>
          </p:cNvPr>
          <p:cNvGrpSpPr/>
          <p:nvPr/>
        </p:nvGrpSpPr>
        <p:grpSpPr>
          <a:xfrm>
            <a:off x="2336800" y="134364"/>
            <a:ext cx="9745291" cy="677445"/>
            <a:chOff x="2336800" y="134364"/>
            <a:chExt cx="9745291" cy="677445"/>
          </a:xfrm>
          <a:solidFill>
            <a:srgbClr val="194E91"/>
          </a:solidFill>
        </p:grpSpPr>
        <p:sp>
          <p:nvSpPr>
            <p:cNvPr id="5" name="TextBox 4">
              <a:extLst>
                <a:ext uri="{FF2B5EF4-FFF2-40B4-BE49-F238E27FC236}">
                  <a16:creationId xmlns:a16="http://schemas.microsoft.com/office/drawing/2014/main" id="{80A12543-5A09-E3C0-6F82-0B8065076D79}"/>
                </a:ext>
              </a:extLst>
            </p:cNvPr>
            <p:cNvSpPr txBox="1"/>
            <p:nvPr/>
          </p:nvSpPr>
          <p:spPr>
            <a:xfrm>
              <a:off x="2336800" y="134364"/>
              <a:ext cx="9745291" cy="677445"/>
            </a:xfrm>
            <a:prstGeom prst="rect">
              <a:avLst/>
            </a:prstGeom>
            <a:grpFill/>
            <a:effectLst>
              <a:softEdge rad="0"/>
            </a:effectLst>
          </p:spPr>
          <p:txBody>
            <a:bodyPr wrap="square" rtlCol="0">
              <a:spAutoFit/>
            </a:bodyPr>
            <a:lstStyle/>
            <a:p>
              <a:pPr algn="ctr"/>
              <a:endParaRPr lang="en-US" sz="2400" b="1" dirty="0">
                <a:solidFill>
                  <a:schemeClr val="bg1"/>
                </a:solidFill>
              </a:endParaRPr>
            </a:p>
          </p:txBody>
        </p:sp>
        <p:sp>
          <p:nvSpPr>
            <p:cNvPr id="7" name="TextBox 6">
              <a:extLst>
                <a:ext uri="{FF2B5EF4-FFF2-40B4-BE49-F238E27FC236}">
                  <a16:creationId xmlns:a16="http://schemas.microsoft.com/office/drawing/2014/main" id="{5DD12FAA-EECC-9AB8-5A9F-72B936984F58}"/>
                </a:ext>
              </a:extLst>
            </p:cNvPr>
            <p:cNvSpPr txBox="1"/>
            <p:nvPr/>
          </p:nvSpPr>
          <p:spPr>
            <a:xfrm>
              <a:off x="2394530" y="273031"/>
              <a:ext cx="9687560" cy="523220"/>
            </a:xfrm>
            <a:prstGeom prst="rect">
              <a:avLst/>
            </a:prstGeom>
            <a:grpFill/>
          </p:spPr>
          <p:txBody>
            <a:bodyPr wrap="square" rtlCol="0">
              <a:spAutoFit/>
            </a:bodyPr>
            <a:lstStyle/>
            <a:p>
              <a:pPr algn="ctr"/>
              <a:r>
                <a:rPr lang="en-US" sz="2800" b="1" dirty="0">
                  <a:solidFill>
                    <a:schemeClr val="bg1"/>
                  </a:solidFill>
                  <a:latin typeface="Times New Roman" panose="02020603050405020304" pitchFamily="18" charset="0"/>
                  <a:cs typeface="Times New Roman" panose="02020603050405020304" pitchFamily="18" charset="0"/>
                </a:rPr>
                <a:t>References</a:t>
              </a:r>
            </a:p>
          </p:txBody>
        </p:sp>
      </p:grpSp>
      <p:sp>
        <p:nvSpPr>
          <p:cNvPr id="4" name="TextBox 3">
            <a:extLst>
              <a:ext uri="{FF2B5EF4-FFF2-40B4-BE49-F238E27FC236}">
                <a16:creationId xmlns:a16="http://schemas.microsoft.com/office/drawing/2014/main" id="{D6C3A915-1D08-93CA-C1DB-FA2DEABDCBB5}"/>
              </a:ext>
            </a:extLst>
          </p:cNvPr>
          <p:cNvSpPr txBox="1"/>
          <p:nvPr/>
        </p:nvSpPr>
        <p:spPr>
          <a:xfrm>
            <a:off x="522514" y="1455576"/>
            <a:ext cx="11196735" cy="4247317"/>
          </a:xfrm>
          <a:prstGeom prst="rect">
            <a:avLst/>
          </a:prstGeom>
          <a:noFill/>
        </p:spPr>
        <p:txBody>
          <a:bodyPr wrap="square" rtlCol="0">
            <a:spAutoFit/>
          </a:bodyPr>
          <a:lstStyle/>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Beshah, T., &amp; Hill, S. (2010). </a:t>
            </a:r>
            <a:r>
              <a:rPr lang="en-IN" i="1" dirty="0">
                <a:latin typeface="Times New Roman" panose="02020603050405020304" pitchFamily="18" charset="0"/>
                <a:cs typeface="Times New Roman" panose="02020603050405020304" pitchFamily="18" charset="0"/>
              </a:rPr>
              <a:t>Deepfake Media and Digital Misinformation: Challenges in Detecting Manipulated Content</a:t>
            </a:r>
            <a:r>
              <a:rPr lang="en-IN" dirty="0">
                <a:latin typeface="Times New Roman" panose="02020603050405020304" pitchFamily="18" charset="0"/>
                <a:cs typeface="Times New Roman" panose="02020603050405020304" pitchFamily="18" charset="0"/>
              </a:rPr>
              <a:t>. AAAI Spring Symposium: Artificial Intelligence for Development. </a:t>
            </a: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Esmaeili, A., Khalili, M., &amp; Pakgohar, A. (2012). </a:t>
            </a:r>
            <a:r>
              <a:rPr lang="en-IN" i="1" dirty="0">
                <a:latin typeface="Times New Roman" panose="02020603050405020304" pitchFamily="18" charset="0"/>
                <a:cs typeface="Times New Roman" panose="02020603050405020304" pitchFamily="18" charset="0"/>
              </a:rPr>
              <a:t>Analysis of Facial Manipulation Artifacts Using Machine Learning Approaches</a:t>
            </a:r>
            <a:r>
              <a:rPr lang="en-IN" dirty="0">
                <a:latin typeface="Times New Roman" panose="02020603050405020304" pitchFamily="18" charset="0"/>
                <a:cs typeface="Times New Roman" panose="02020603050405020304" pitchFamily="18" charset="0"/>
              </a:rPr>
              <a:t>. Proceedings of ICSSBE 2012, Langkawi, pp. 1–4. </a:t>
            </a:r>
          </a:p>
          <a:p>
            <a:pPr marL="342900" indent="-342900" algn="just">
              <a:buFont typeface="+mj-lt"/>
              <a:buAutoNum type="arabicPeriod"/>
            </a:pPr>
            <a:r>
              <a:rPr lang="en-IN" dirty="0">
                <a:latin typeface="Times New Roman" panose="02020603050405020304" pitchFamily="18" charset="0"/>
                <a:cs typeface="Times New Roman" panose="02020603050405020304" pitchFamily="18" charset="0"/>
              </a:rPr>
              <a:t>Patel, S., Kumar, R., &amp; Mehta, D. (2023). </a:t>
            </a:r>
            <a:r>
              <a:rPr lang="en-IN" i="1" dirty="0">
                <a:latin typeface="Times New Roman" panose="02020603050405020304" pitchFamily="18" charset="0"/>
                <a:cs typeface="Times New Roman" panose="02020603050405020304" pitchFamily="18" charset="0"/>
              </a:rPr>
              <a:t>Deepfake Detection Using Deep Learning Techniques</a:t>
            </a:r>
            <a:r>
              <a:rPr lang="en-IN" dirty="0">
                <a:latin typeface="Times New Roman" panose="02020603050405020304" pitchFamily="18" charset="0"/>
                <a:cs typeface="Times New Roman" panose="02020603050405020304" pitchFamily="18" charset="0"/>
              </a:rPr>
              <a:t>. IEEE Access, vol. 11, pp. 92340–92390. </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Sharma, M., &amp; Agarwal, K. (2023). </a:t>
            </a:r>
            <a:r>
              <a:rPr lang="en-US" i="1" dirty="0">
                <a:latin typeface="Times New Roman" panose="02020603050405020304" pitchFamily="18" charset="0"/>
                <a:cs typeface="Times New Roman" panose="02020603050405020304" pitchFamily="18" charset="0"/>
              </a:rPr>
              <a:t>Deepfake Image and Video Classification Using CNN and Transfer Learning Models</a:t>
            </a:r>
            <a:r>
              <a:rPr lang="en-US" dirty="0">
                <a:latin typeface="Times New Roman" panose="02020603050405020304" pitchFamily="18" charset="0"/>
                <a:cs typeface="Times New Roman" panose="02020603050405020304" pitchFamily="18" charset="0"/>
              </a:rPr>
              <a:t>. International Research Journal of Engineering and Technology (IRJET), vol. 10, no. 5, pp. 1145–1152.</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Verma, R., Singh, P., &amp; Chauhan, A. (2022). </a:t>
            </a:r>
            <a:r>
              <a:rPr lang="en-US" i="1" dirty="0">
                <a:latin typeface="Times New Roman" panose="02020603050405020304" pitchFamily="18" charset="0"/>
                <a:cs typeface="Times New Roman" panose="02020603050405020304" pitchFamily="18" charset="0"/>
              </a:rPr>
              <a:t>Deepfake Recognition Using Ensemble and Transfer Learning Models</a:t>
            </a:r>
            <a:r>
              <a:rPr lang="en-US" dirty="0">
                <a:latin typeface="Times New Roman" panose="02020603050405020304" pitchFamily="18" charset="0"/>
                <a:cs typeface="Times New Roman" panose="02020603050405020304" pitchFamily="18" charset="0"/>
              </a:rPr>
              <a:t>. International Journal of Computer Applications, vol. 184, no. 19, pp. 25–32. </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Chollet, F. (2021). </a:t>
            </a:r>
            <a:r>
              <a:rPr lang="en-US" i="1" dirty="0">
                <a:latin typeface="Times New Roman" panose="02020603050405020304" pitchFamily="18" charset="0"/>
                <a:cs typeface="Times New Roman" panose="02020603050405020304" pitchFamily="18" charset="0"/>
              </a:rPr>
              <a:t>Deep Learning with Python</a:t>
            </a:r>
            <a:r>
              <a:rPr lang="en-US" dirty="0">
                <a:latin typeface="Times New Roman" panose="02020603050405020304" pitchFamily="18" charset="0"/>
                <a:cs typeface="Times New Roman" panose="02020603050405020304" pitchFamily="18" charset="0"/>
              </a:rPr>
              <a:t>. Manning Publications. </a:t>
            </a:r>
          </a:p>
          <a:p>
            <a:pPr marL="342900" indent="-342900" algn="just">
              <a:buFont typeface="+mj-lt"/>
              <a:buAutoNum type="arabicPeriod"/>
            </a:pPr>
            <a:r>
              <a:rPr lang="en-US" dirty="0">
                <a:latin typeface="Times New Roman" panose="02020603050405020304" pitchFamily="18" charset="0"/>
                <a:cs typeface="Times New Roman" panose="02020603050405020304" pitchFamily="18" charset="0"/>
              </a:rPr>
              <a:t>Dataset Source</a:t>
            </a:r>
          </a:p>
          <a:p>
            <a:br>
              <a:rPr lang="en-IN" dirty="0"/>
            </a:br>
            <a:r>
              <a:rPr lang="en-IN" dirty="0"/>
              <a:t>📊 </a:t>
            </a:r>
            <a:r>
              <a:rPr lang="en-IN" dirty="0" err="1"/>
              <a:t>FaceForensics</a:t>
            </a:r>
            <a:r>
              <a:rPr lang="en-IN" dirty="0"/>
              <a:t>++ (FF++) Deepfake Dataset</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98428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p16" descr="WhatsApp Image 2024-08-23 at 15.43.17"/>
          <p:cNvPicPr preferRelativeResize="0"/>
          <p:nvPr/>
        </p:nvPicPr>
        <p:blipFill rotWithShape="1">
          <a:blip r:embed="rId3">
            <a:alphaModFix/>
          </a:blip>
          <a:srcRect/>
          <a:stretch/>
        </p:blipFill>
        <p:spPr>
          <a:xfrm>
            <a:off x="317643" y="144259"/>
            <a:ext cx="1719435" cy="677445"/>
          </a:xfrm>
          <a:prstGeom prst="rect">
            <a:avLst/>
          </a:prstGeom>
          <a:noFill/>
          <a:ln>
            <a:noFill/>
          </a:ln>
        </p:spPr>
      </p:pic>
      <p:grpSp>
        <p:nvGrpSpPr>
          <p:cNvPr id="334" name="Google Shape;334;p16"/>
          <p:cNvGrpSpPr/>
          <p:nvPr/>
        </p:nvGrpSpPr>
        <p:grpSpPr>
          <a:xfrm>
            <a:off x="2336800" y="134364"/>
            <a:ext cx="9745291" cy="677445"/>
            <a:chOff x="2336800" y="134364"/>
            <a:chExt cx="9745291" cy="677445"/>
          </a:xfrm>
        </p:grpSpPr>
        <p:sp>
          <p:nvSpPr>
            <p:cNvPr id="335" name="Google Shape;335;p16"/>
            <p:cNvSpPr txBox="1"/>
            <p:nvPr/>
          </p:nvSpPr>
          <p:spPr>
            <a:xfrm>
              <a:off x="2336800" y="134364"/>
              <a:ext cx="9745291" cy="677445"/>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400" b="1">
                <a:solidFill>
                  <a:schemeClr val="lt1"/>
                </a:solidFill>
                <a:latin typeface="Calibri"/>
                <a:ea typeface="Calibri"/>
                <a:cs typeface="Calibri"/>
                <a:sym typeface="Calibri"/>
              </a:endParaRPr>
            </a:p>
          </p:txBody>
        </p:sp>
        <p:sp>
          <p:nvSpPr>
            <p:cNvPr id="336" name="Google Shape;336;p16"/>
            <p:cNvSpPr txBox="1"/>
            <p:nvPr/>
          </p:nvSpPr>
          <p:spPr>
            <a:xfrm>
              <a:off x="2394530" y="273031"/>
              <a:ext cx="9687560" cy="400110"/>
            </a:xfrm>
            <a:prstGeom prst="rect">
              <a:avLst/>
            </a:prstGeom>
            <a:solidFill>
              <a:srgbClr val="194E9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endParaRPr sz="2000">
                <a:solidFill>
                  <a:schemeClr val="dk1"/>
                </a:solidFill>
                <a:latin typeface="Calibri"/>
                <a:ea typeface="Calibri"/>
                <a:cs typeface="Calibri"/>
                <a:sym typeface="Calibri"/>
              </a:endParaRPr>
            </a:p>
          </p:txBody>
        </p:sp>
      </p:grpSp>
      <p:pic>
        <p:nvPicPr>
          <p:cNvPr id="337" name="Google Shape;337;p16"/>
          <p:cNvPicPr preferRelativeResize="0"/>
          <p:nvPr/>
        </p:nvPicPr>
        <p:blipFill rotWithShape="1">
          <a:blip r:embed="rId4">
            <a:alphaModFix/>
          </a:blip>
          <a:srcRect/>
          <a:stretch/>
        </p:blipFill>
        <p:spPr>
          <a:xfrm>
            <a:off x="3464378" y="1790700"/>
            <a:ext cx="5829300" cy="3276600"/>
          </a:xfrm>
          <a:prstGeom prst="rect">
            <a:avLst/>
          </a:prstGeom>
          <a:noFill/>
          <a:ln>
            <a:noFill/>
          </a:ln>
        </p:spPr>
      </p:pic>
      <p:sp>
        <p:nvSpPr>
          <p:cNvPr id="3" name="Slide Number Placeholder 2">
            <a:extLst>
              <a:ext uri="{FF2B5EF4-FFF2-40B4-BE49-F238E27FC236}">
                <a16:creationId xmlns:a16="http://schemas.microsoft.com/office/drawing/2014/main" id="{FF6245C8-5E32-99B7-6CE7-799968AF29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Tree>
    <p:extLst>
      <p:ext uri="{BB962C8B-B14F-4D97-AF65-F5344CB8AC3E}">
        <p14:creationId xmlns:p14="http://schemas.microsoft.com/office/powerpoint/2010/main" val="36079227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3401</TotalTime>
  <Words>1141</Words>
  <Application>Microsoft Office PowerPoint</Application>
  <PresentationFormat>Widescreen</PresentationFormat>
  <Paragraphs>147</Paragraphs>
  <Slides>12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Alice</vt:lpstr>
      <vt:lpstr>Aptos</vt:lpstr>
      <vt:lpstr>Aptos Display</vt:lpstr>
      <vt:lpstr>Arial</vt:lpstr>
      <vt:lpstr>Calibri</vt:lpstr>
      <vt:lpstr>Lora</vt:lpstr>
      <vt:lpstr>Times New Roman</vt:lpstr>
      <vt:lpstr>Wingdings</vt:lpstr>
      <vt:lpstr>Office Theme</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Sujoy  Saha</dc:creator>
  <cp:lastModifiedBy>Myakala Chandana</cp:lastModifiedBy>
  <cp:revision>131</cp:revision>
  <dcterms:created xsi:type="dcterms:W3CDTF">2025-01-02T14:33:31Z</dcterms:created>
  <dcterms:modified xsi:type="dcterms:W3CDTF">2025-11-18T15:08:37Z</dcterms:modified>
</cp:coreProperties>
</file>